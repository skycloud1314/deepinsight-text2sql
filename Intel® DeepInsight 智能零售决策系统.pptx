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3" r:id="rId4"/>
    <p:sldMasterId id="2147483666" r:id="rId5"/>
  </p:sldMasterIdLst>
  <p:notesMasterIdLst>
    <p:notesMasterId r:id="rId7"/>
  </p:notesMasterIdLst>
  <p:handoutMasterIdLst>
    <p:handoutMasterId r:id="rId27"/>
  </p:handoutMasterIdLst>
  <p:sldIdLst>
    <p:sldId id="272" r:id="rId6"/>
    <p:sldId id="257" r:id="rId8"/>
    <p:sldId id="258" r:id="rId9"/>
    <p:sldId id="259" r:id="rId10"/>
    <p:sldId id="273" r:id="rId11"/>
    <p:sldId id="276" r:id="rId12"/>
    <p:sldId id="261" r:id="rId13"/>
    <p:sldId id="274" r:id="rId14"/>
    <p:sldId id="277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5" r:id="rId2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0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0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0" Type="http://schemas.openxmlformats.org/officeDocument/2006/relationships/tableStyles" Target="tableStyles.xml"/><Relationship Id="rId3" Type="http://schemas.openxmlformats.org/officeDocument/2006/relationships/slideMaster" Target="slideMasters/slideMaster2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handoutMaster" Target="handoutMasters/handoutMaster1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0" Type="http://schemas.openxmlformats.org/officeDocument/2006/relationships/slide" Target="slides/slide14.xml"/><Relationship Id="rId2" Type="http://schemas.openxmlformats.org/officeDocument/2006/relationships/theme" Target="theme/theme1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当前零售行业数据决策面临的三大痛点：传统BI死板、人工SQL慢、公有云AI不安全。从而引出本项目的核心定位：全本地、高性能、零门槛。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本页定义了 DeepInsight 的核心公式（DeepSeek+OpenVINO），并阐述了四大核心价值：易用性、安全性、高性能和专业性，确立了产品的差异化优势。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本页通过分层架构图展示了系统的整体设计，从上层的交互到中间的业务与推理逻辑，再到底层的硬件优化，体现了工程实现的完整性和模块化。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本页通过分层架构图展示了系统的整体设计，从上层的交互到中间的业务与推理逻辑，再到底层的硬件优化，体现了工程实现的完整性和模块化。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本页通过流水线视图详细拆解了10个处理阶段，结合OpenVINO和DeepSeek的具体应用场景，并配合右侧的耗时分布图，展示了系统在保证高性能响应（全流程&lt;4秒）的同时，如何实现复杂的逻辑处理。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本页通过流水线视图详细拆解了10个处理阶段，结合OpenVINO和DeepSeek的具体应用场景，并配合右侧的耗时分布图，展示了系统在保证高性能响应（全流程&lt;4秒）的同时，如何实现复杂的逻辑处理。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本页通过流水线视图详细拆解了10个处理阶段，结合OpenVINO和DeepSeek的具体应用场景，并配合右侧的耗时分布图，展示了系统在保证高性能响应（全流程&lt;4秒）的同时，如何实现复杂的逻辑处理。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软件层面的三大创新：解决歧义的多可能性枚举、解决大数据库表选择难题的三步筛选法、以及保证稳定性的错误自愈机制，体现了系统的鲁棒性。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针对 Intel CPU 的三大优化策略：AVX-512 指令集加速、MKL 数学库集成以及 TBB 并行计算，证明了即便在纯 CPU 环境下也能获得显著的性能收益。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GPU 端的优化，包括利用 Iris Xe 进行通用计算加速，以及 OpenVINO 在模型量化和推理层面的深度优化，强调了边缘计算的可行性。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本页阐述了系统的智能调度能力，能够根据任务负载动态分配 CPU 和 GPU 资源，并配合实时监控闭环，确保系统运行在最优能效比状态。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本页定义了测试基准，明确了测试环境为普通的 Intel Core 平台（无独显），并列出了四个关键的评估指标，为后续的数据展示做好铺垫。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对比 PyTorch 与 OpenVINO 的单次嵌入延迟数据（7.92ms vs 3.79ms），直观展示了 2.09 倍的性能提升，证明了模型优化的有效性。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本页展示了系统层面的综合性能指标，包括最高 4.0 倍的加速比、秒级响应能力以及良好的并发支持，强调了在实际业务场景中的可用性。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本页介绍了系统的业务功能，涵盖统计、业务、趋势三个维度的异常检测，以及自动绘图和报告导出功能，证明了系统不仅有算力，更懂业务。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本页通过财务数据直观展示了项目的商业价值，包括显著的人力成本节省和效率提升，以及高达 500%-950% 的投资回报率，证明了项目的经济可行性。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本页总结了项目的核心优势：DeepSeek R1 的智能、OpenVINO 的速度和本地部署的安全，并对未来适配 NPU 和拓展知识图谱提出了明确的规划。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7" Type="http://schemas.openxmlformats.org/officeDocument/2006/relationships/notesSlide" Target="../notesSlides/notesSlide1.xml"/><Relationship Id="rId16" Type="http://schemas.openxmlformats.org/officeDocument/2006/relationships/slideLayout" Target="../slideLayouts/slideLayout13.xml"/><Relationship Id="rId15" Type="http://schemas.openxmlformats.org/officeDocument/2006/relationships/image" Target="../media/image2.png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0.xml"/><Relationship Id="rId8" Type="http://schemas.openxmlformats.org/officeDocument/2006/relationships/slideLayout" Target="../slideLayouts/slideLayout13.xml"/><Relationship Id="rId7" Type="http://schemas.openxmlformats.org/officeDocument/2006/relationships/image" Target="../media/image2.png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e95ebfb1fed338ce1263a2bb67b2ec40da5ad6d8.jpg"/>
          <p:cNvPicPr>
            <a:picLocks noChangeAspect="1"/>
          </p:cNvPicPr>
          <p:nvPr/>
        </p:nvPicPr>
        <p:blipFill>
          <a:blip r:embed="rId1">
            <a:alphaModFix amt="40000"/>
          </a:blip>
          <a:srcRect t="7786" b="7786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21806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071C5">
                  <a:alpha val="65000"/>
                  <a:lumMod val="96000"/>
                </a:srgbClr>
              </a:gs>
              <a:gs pos="50000">
                <a:srgbClr val="1A1D21">
                  <a:alpha val="80000"/>
                </a:srgbClr>
              </a:gs>
              <a:gs pos="100000">
                <a:srgbClr val="1A1D21">
                  <a:alpha val="95000"/>
                </a:srgbClr>
              </a:gs>
            </a:gsLst>
            <a:lin ang="3000000" scaled="1"/>
          </a:gradFill>
        </p:spPr>
        <p:txBody>
          <a:bodyPr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1295400" y="476250"/>
            <a:ext cx="10629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kern="0" spc="9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Sitka Text" charset="0"/>
              </a:rPr>
              <a:t>Intel® DeepInsight</a:t>
            </a:r>
            <a:endParaRPr lang="en-US" sz="2000" b="1" kern="0" spc="9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Sitka Text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295400" y="781050"/>
            <a:ext cx="106013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6F1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MiSans" panose="00000500000000000000" pitchFamily="34" charset="-120"/>
              </a:rPr>
              <a:t>智能零售决策系统</a:t>
            </a:r>
            <a:endParaRPr lang="en-US" sz="1600" b="1" dirty="0">
              <a:solidFill>
                <a:srgbClr val="E0E6F1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MiSans" panose="00000500000000000000" pitchFamily="34" charset="-120"/>
            </a:endParaRPr>
          </a:p>
        </p:txBody>
      </p:sp>
      <p:sp>
        <p:nvSpPr>
          <p:cNvPr id="8" name="Text 5"/>
          <p:cNvSpPr/>
          <p:nvPr/>
        </p:nvSpPr>
        <p:spPr>
          <a:xfrm>
            <a:off x="385823" y="2444320"/>
            <a:ext cx="11715750" cy="7143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E0E6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 Intel OpenVINO </a:t>
            </a:r>
            <a:r>
              <a:rPr lang="en-US" sz="3600" b="1" dirty="0">
                <a:solidFill>
                  <a:srgbClr val="E0E6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的本地化智能零售决策系统</a:t>
            </a:r>
            <a:endParaRPr lang="en-US" sz="3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hape 7"/>
          <p:cNvSpPr/>
          <p:nvPr>
            <p:custDataLst>
              <p:tags r:id="rId2"/>
            </p:custDataLst>
          </p:nvPr>
        </p:nvSpPr>
        <p:spPr>
          <a:xfrm>
            <a:off x="4269605" y="3773953"/>
            <a:ext cx="217805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42863" y="0"/>
                </a:moveTo>
                <a:cubicBezTo>
                  <a:pt x="36935" y="0"/>
                  <a:pt x="32147" y="4789"/>
                  <a:pt x="32147" y="10716"/>
                </a:cubicBezTo>
                <a:lnTo>
                  <a:pt x="32147" y="21431"/>
                </a:lnTo>
                <a:lnTo>
                  <a:pt x="21431" y="21431"/>
                </a:lnTo>
                <a:cubicBezTo>
                  <a:pt x="9611" y="21431"/>
                  <a:pt x="0" y="31042"/>
                  <a:pt x="0" y="42863"/>
                </a:cubicBezTo>
                <a:lnTo>
                  <a:pt x="0" y="58936"/>
                </a:lnTo>
                <a:lnTo>
                  <a:pt x="150019" y="58936"/>
                </a:lnTo>
                <a:lnTo>
                  <a:pt x="150019" y="42863"/>
                </a:lnTo>
                <a:cubicBezTo>
                  <a:pt x="150019" y="31042"/>
                  <a:pt x="140408" y="21431"/>
                  <a:pt x="128588" y="21431"/>
                </a:cubicBezTo>
                <a:lnTo>
                  <a:pt x="117872" y="21431"/>
                </a:lnTo>
                <a:lnTo>
                  <a:pt x="117872" y="10716"/>
                </a:lnTo>
                <a:cubicBezTo>
                  <a:pt x="117872" y="4789"/>
                  <a:pt x="113083" y="0"/>
                  <a:pt x="107156" y="0"/>
                </a:cubicBezTo>
                <a:cubicBezTo>
                  <a:pt x="101229" y="0"/>
                  <a:pt x="96441" y="4789"/>
                  <a:pt x="96441" y="10716"/>
                </a:cubicBezTo>
                <a:lnTo>
                  <a:pt x="96441" y="21431"/>
                </a:lnTo>
                <a:lnTo>
                  <a:pt x="53578" y="21431"/>
                </a:lnTo>
                <a:lnTo>
                  <a:pt x="53578" y="10716"/>
                </a:lnTo>
                <a:cubicBezTo>
                  <a:pt x="53578" y="4789"/>
                  <a:pt x="48790" y="0"/>
                  <a:pt x="42863" y="0"/>
                </a:cubicBezTo>
                <a:close/>
                <a:moveTo>
                  <a:pt x="0" y="75009"/>
                </a:moveTo>
                <a:lnTo>
                  <a:pt x="0" y="139303"/>
                </a:lnTo>
                <a:cubicBezTo>
                  <a:pt x="0" y="151124"/>
                  <a:pt x="9611" y="160734"/>
                  <a:pt x="21431" y="160734"/>
                </a:cubicBezTo>
                <a:lnTo>
                  <a:pt x="128588" y="160734"/>
                </a:lnTo>
                <a:cubicBezTo>
                  <a:pt x="140408" y="160734"/>
                  <a:pt x="150019" y="151124"/>
                  <a:pt x="150019" y="139303"/>
                </a:cubicBezTo>
                <a:lnTo>
                  <a:pt x="150019" y="75009"/>
                </a:lnTo>
                <a:lnTo>
                  <a:pt x="0" y="75009"/>
                </a:lnTo>
                <a:close/>
              </a:path>
            </a:pathLst>
          </a:custGeom>
          <a:solidFill>
            <a:srgbClr val="0071C5"/>
          </a:solidFill>
        </p:spPr>
      </p:sp>
      <p:sp>
        <p:nvSpPr>
          <p:cNvPr id="11" name="Text 8"/>
          <p:cNvSpPr/>
          <p:nvPr>
            <p:custDataLst>
              <p:tags r:id="rId3"/>
            </p:custDataLst>
          </p:nvPr>
        </p:nvSpPr>
        <p:spPr>
          <a:xfrm>
            <a:off x="4538845" y="3700928"/>
            <a:ext cx="1551940" cy="2730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6F1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2026年1</a:t>
            </a:r>
            <a:r>
              <a:rPr lang="en-US" sz="1600" b="1" dirty="0">
                <a:solidFill>
                  <a:srgbClr val="E0E6F1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月11</a:t>
            </a:r>
            <a:r>
              <a:rPr lang="zh-CN" altLang="en-US" sz="1600" b="1" dirty="0">
                <a:solidFill>
                  <a:srgbClr val="E0E6F1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</a:t>
            </a:r>
            <a:endParaRPr lang="zh-CN" altLang="en-US" sz="1600" b="1" dirty="0">
              <a:solidFill>
                <a:srgbClr val="E0E6F1">
                  <a:alpha val="9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hape 9"/>
          <p:cNvSpPr/>
          <p:nvPr>
            <p:custDataLst>
              <p:tags r:id="rId4"/>
            </p:custDataLst>
          </p:nvPr>
        </p:nvSpPr>
        <p:spPr>
          <a:xfrm>
            <a:off x="1713756" y="4176712"/>
            <a:ext cx="9525" cy="228600"/>
          </a:xfrm>
          <a:custGeom>
            <a:avLst/>
            <a:gdLst/>
            <a:ahLst/>
            <a:cxnLst/>
            <a:rect l="l" t="t" r="r" b="b"/>
            <a:pathLst>
              <a:path w="9525" h="228600">
                <a:moveTo>
                  <a:pt x="0" y="0"/>
                </a:moveTo>
                <a:lnTo>
                  <a:pt x="9525" y="0"/>
                </a:lnTo>
                <a:lnTo>
                  <a:pt x="9525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E0E6F1">
              <a:alpha val="30196"/>
            </a:srgbClr>
          </a:solidFill>
        </p:spPr>
        <p:txBody>
          <a:bodyPr/>
          <a:p>
            <a:endParaRPr lang="zh-CN" altLang="en-US"/>
          </a:p>
        </p:txBody>
      </p:sp>
      <p:sp>
        <p:nvSpPr>
          <p:cNvPr id="13" name="Shape 10"/>
          <p:cNvSpPr/>
          <p:nvPr>
            <p:custDataLst>
              <p:tags r:id="rId5"/>
            </p:custDataLst>
          </p:nvPr>
        </p:nvSpPr>
        <p:spPr>
          <a:xfrm>
            <a:off x="6201275" y="3761253"/>
            <a:ext cx="208280" cy="19939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58936" y="8037"/>
                </a:moveTo>
                <a:cubicBezTo>
                  <a:pt x="58936" y="3583"/>
                  <a:pt x="55353" y="0"/>
                  <a:pt x="50899" y="0"/>
                </a:cubicBezTo>
                <a:cubicBezTo>
                  <a:pt x="46446" y="0"/>
                  <a:pt x="42863" y="3583"/>
                  <a:pt x="42863" y="8037"/>
                </a:cubicBezTo>
                <a:lnTo>
                  <a:pt x="42863" y="21431"/>
                </a:lnTo>
                <a:cubicBezTo>
                  <a:pt x="31042" y="21431"/>
                  <a:pt x="21431" y="31042"/>
                  <a:pt x="21431" y="42863"/>
                </a:cubicBezTo>
                <a:lnTo>
                  <a:pt x="8037" y="42863"/>
                </a:lnTo>
                <a:cubicBezTo>
                  <a:pt x="3583" y="42863"/>
                  <a:pt x="0" y="46446"/>
                  <a:pt x="0" y="50899"/>
                </a:cubicBezTo>
                <a:cubicBezTo>
                  <a:pt x="0" y="55353"/>
                  <a:pt x="3583" y="58936"/>
                  <a:pt x="8037" y="58936"/>
                </a:cubicBezTo>
                <a:lnTo>
                  <a:pt x="21431" y="58936"/>
                </a:lnTo>
                <a:lnTo>
                  <a:pt x="21431" y="77688"/>
                </a:lnTo>
                <a:lnTo>
                  <a:pt x="8037" y="77688"/>
                </a:lnTo>
                <a:cubicBezTo>
                  <a:pt x="3583" y="77688"/>
                  <a:pt x="0" y="81271"/>
                  <a:pt x="0" y="85725"/>
                </a:cubicBezTo>
                <a:cubicBezTo>
                  <a:pt x="0" y="90179"/>
                  <a:pt x="3583" y="93762"/>
                  <a:pt x="8037" y="93762"/>
                </a:cubicBezTo>
                <a:lnTo>
                  <a:pt x="21431" y="93762"/>
                </a:lnTo>
                <a:lnTo>
                  <a:pt x="21431" y="112514"/>
                </a:lnTo>
                <a:lnTo>
                  <a:pt x="8037" y="112514"/>
                </a:lnTo>
                <a:cubicBezTo>
                  <a:pt x="3583" y="112514"/>
                  <a:pt x="0" y="116097"/>
                  <a:pt x="0" y="120551"/>
                </a:cubicBezTo>
                <a:cubicBezTo>
                  <a:pt x="0" y="125004"/>
                  <a:pt x="3583" y="128588"/>
                  <a:pt x="8037" y="128588"/>
                </a:cubicBezTo>
                <a:lnTo>
                  <a:pt x="21431" y="128588"/>
                </a:lnTo>
                <a:cubicBezTo>
                  <a:pt x="21431" y="140408"/>
                  <a:pt x="31042" y="150019"/>
                  <a:pt x="42863" y="150019"/>
                </a:cubicBezTo>
                <a:lnTo>
                  <a:pt x="42863" y="163413"/>
                </a:lnTo>
                <a:cubicBezTo>
                  <a:pt x="42863" y="167867"/>
                  <a:pt x="46446" y="171450"/>
                  <a:pt x="50899" y="171450"/>
                </a:cubicBezTo>
                <a:cubicBezTo>
                  <a:pt x="55353" y="171450"/>
                  <a:pt x="58936" y="167867"/>
                  <a:pt x="58936" y="163413"/>
                </a:cubicBezTo>
                <a:lnTo>
                  <a:pt x="58936" y="150019"/>
                </a:lnTo>
                <a:lnTo>
                  <a:pt x="77688" y="150019"/>
                </a:lnTo>
                <a:lnTo>
                  <a:pt x="77688" y="163413"/>
                </a:lnTo>
                <a:cubicBezTo>
                  <a:pt x="77688" y="167867"/>
                  <a:pt x="81271" y="171450"/>
                  <a:pt x="85725" y="171450"/>
                </a:cubicBezTo>
                <a:cubicBezTo>
                  <a:pt x="90179" y="171450"/>
                  <a:pt x="93762" y="167867"/>
                  <a:pt x="93762" y="163413"/>
                </a:cubicBezTo>
                <a:lnTo>
                  <a:pt x="93762" y="150019"/>
                </a:lnTo>
                <a:lnTo>
                  <a:pt x="112514" y="150019"/>
                </a:lnTo>
                <a:lnTo>
                  <a:pt x="112514" y="163413"/>
                </a:lnTo>
                <a:cubicBezTo>
                  <a:pt x="112514" y="167867"/>
                  <a:pt x="116097" y="171450"/>
                  <a:pt x="120551" y="171450"/>
                </a:cubicBezTo>
                <a:cubicBezTo>
                  <a:pt x="125004" y="171450"/>
                  <a:pt x="128588" y="167867"/>
                  <a:pt x="128588" y="163413"/>
                </a:cubicBezTo>
                <a:lnTo>
                  <a:pt x="128588" y="150019"/>
                </a:lnTo>
                <a:cubicBezTo>
                  <a:pt x="140408" y="150019"/>
                  <a:pt x="150019" y="140408"/>
                  <a:pt x="150019" y="128588"/>
                </a:cubicBezTo>
                <a:lnTo>
                  <a:pt x="163413" y="128588"/>
                </a:lnTo>
                <a:cubicBezTo>
                  <a:pt x="167867" y="128588"/>
                  <a:pt x="171450" y="125004"/>
                  <a:pt x="171450" y="120551"/>
                </a:cubicBezTo>
                <a:cubicBezTo>
                  <a:pt x="171450" y="116097"/>
                  <a:pt x="167867" y="112514"/>
                  <a:pt x="163413" y="112514"/>
                </a:cubicBezTo>
                <a:lnTo>
                  <a:pt x="150019" y="112514"/>
                </a:lnTo>
                <a:lnTo>
                  <a:pt x="150019" y="93762"/>
                </a:lnTo>
                <a:lnTo>
                  <a:pt x="163413" y="93762"/>
                </a:lnTo>
                <a:cubicBezTo>
                  <a:pt x="167867" y="93762"/>
                  <a:pt x="171450" y="90179"/>
                  <a:pt x="171450" y="85725"/>
                </a:cubicBezTo>
                <a:cubicBezTo>
                  <a:pt x="171450" y="81271"/>
                  <a:pt x="167867" y="77688"/>
                  <a:pt x="163413" y="77688"/>
                </a:cubicBezTo>
                <a:lnTo>
                  <a:pt x="150019" y="77688"/>
                </a:lnTo>
                <a:lnTo>
                  <a:pt x="150019" y="58936"/>
                </a:lnTo>
                <a:lnTo>
                  <a:pt x="163413" y="58936"/>
                </a:lnTo>
                <a:cubicBezTo>
                  <a:pt x="167867" y="58936"/>
                  <a:pt x="171450" y="55353"/>
                  <a:pt x="171450" y="50899"/>
                </a:cubicBezTo>
                <a:cubicBezTo>
                  <a:pt x="171450" y="46446"/>
                  <a:pt x="167867" y="42863"/>
                  <a:pt x="163413" y="42863"/>
                </a:cubicBezTo>
                <a:lnTo>
                  <a:pt x="150019" y="42863"/>
                </a:lnTo>
                <a:cubicBezTo>
                  <a:pt x="150019" y="31042"/>
                  <a:pt x="140408" y="21431"/>
                  <a:pt x="128588" y="21431"/>
                </a:cubicBezTo>
                <a:lnTo>
                  <a:pt x="128588" y="8037"/>
                </a:lnTo>
                <a:cubicBezTo>
                  <a:pt x="128588" y="3583"/>
                  <a:pt x="125004" y="0"/>
                  <a:pt x="120551" y="0"/>
                </a:cubicBezTo>
                <a:cubicBezTo>
                  <a:pt x="116097" y="0"/>
                  <a:pt x="112514" y="3583"/>
                  <a:pt x="112514" y="8037"/>
                </a:cubicBezTo>
                <a:lnTo>
                  <a:pt x="112514" y="21431"/>
                </a:lnTo>
                <a:lnTo>
                  <a:pt x="93762" y="21431"/>
                </a:lnTo>
                <a:lnTo>
                  <a:pt x="93762" y="8037"/>
                </a:lnTo>
                <a:cubicBezTo>
                  <a:pt x="93762" y="3583"/>
                  <a:pt x="90179" y="0"/>
                  <a:pt x="85725" y="0"/>
                </a:cubicBezTo>
                <a:cubicBezTo>
                  <a:pt x="81271" y="0"/>
                  <a:pt x="77688" y="3583"/>
                  <a:pt x="77688" y="8037"/>
                </a:cubicBezTo>
                <a:lnTo>
                  <a:pt x="77688" y="21431"/>
                </a:lnTo>
                <a:lnTo>
                  <a:pt x="58936" y="21431"/>
                </a:lnTo>
                <a:lnTo>
                  <a:pt x="58936" y="8037"/>
                </a:lnTo>
                <a:close/>
                <a:moveTo>
                  <a:pt x="53578" y="42863"/>
                </a:moveTo>
                <a:lnTo>
                  <a:pt x="117872" y="42863"/>
                </a:lnTo>
                <a:cubicBezTo>
                  <a:pt x="123799" y="42863"/>
                  <a:pt x="128588" y="47651"/>
                  <a:pt x="128588" y="53578"/>
                </a:cubicBezTo>
                <a:lnTo>
                  <a:pt x="128588" y="117872"/>
                </a:lnTo>
                <a:cubicBezTo>
                  <a:pt x="128588" y="123799"/>
                  <a:pt x="123799" y="128588"/>
                  <a:pt x="117872" y="128588"/>
                </a:cubicBezTo>
                <a:lnTo>
                  <a:pt x="53578" y="128588"/>
                </a:lnTo>
                <a:cubicBezTo>
                  <a:pt x="47651" y="128588"/>
                  <a:pt x="42863" y="123799"/>
                  <a:pt x="42863" y="117872"/>
                </a:cubicBezTo>
                <a:lnTo>
                  <a:pt x="42863" y="53578"/>
                </a:lnTo>
                <a:cubicBezTo>
                  <a:pt x="42863" y="47651"/>
                  <a:pt x="47651" y="42863"/>
                  <a:pt x="53578" y="42863"/>
                </a:cubicBezTo>
                <a:close/>
                <a:moveTo>
                  <a:pt x="58936" y="58936"/>
                </a:moveTo>
                <a:lnTo>
                  <a:pt x="58936" y="112514"/>
                </a:lnTo>
                <a:lnTo>
                  <a:pt x="112514" y="112514"/>
                </a:lnTo>
                <a:lnTo>
                  <a:pt x="112514" y="58936"/>
                </a:lnTo>
                <a:lnTo>
                  <a:pt x="58936" y="58936"/>
                </a:lnTo>
                <a:close/>
              </a:path>
            </a:pathLst>
          </a:custGeom>
          <a:solidFill>
            <a:srgbClr val="0071C5"/>
          </a:solidFill>
        </p:spPr>
      </p:sp>
      <p:sp>
        <p:nvSpPr>
          <p:cNvPr id="14" name="Text 11"/>
          <p:cNvSpPr/>
          <p:nvPr>
            <p:custDataLst>
              <p:tags r:id="rId6"/>
            </p:custDataLst>
          </p:nvPr>
        </p:nvSpPr>
        <p:spPr>
          <a:xfrm>
            <a:off x="6465008" y="3693626"/>
            <a:ext cx="14573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6F1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随便试试</a:t>
            </a:r>
            <a:r>
              <a:rPr lang="zh-CN" altLang="en-US" sz="1600" b="1" dirty="0">
                <a:solidFill>
                  <a:srgbClr val="E0E6F1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队</a:t>
            </a:r>
            <a:endParaRPr lang="zh-CN" altLang="en-US" sz="1600" b="1" dirty="0">
              <a:solidFill>
                <a:srgbClr val="E0E6F1">
                  <a:alpha val="9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Shape 12"/>
          <p:cNvSpPr/>
          <p:nvPr>
            <p:custDataLst>
              <p:tags r:id="rId7"/>
            </p:custDataLst>
          </p:nvPr>
        </p:nvSpPr>
        <p:spPr>
          <a:xfrm>
            <a:off x="385445" y="6033770"/>
            <a:ext cx="1337945" cy="428625"/>
          </a:xfrm>
          <a:custGeom>
            <a:avLst/>
            <a:gdLst/>
            <a:ahLst/>
            <a:cxnLst/>
            <a:rect l="l" t="t" r="r" b="b"/>
            <a:pathLst>
              <a:path w="1143000" h="428625">
                <a:moveTo>
                  <a:pt x="76201" y="0"/>
                </a:moveTo>
                <a:lnTo>
                  <a:pt x="1066799" y="0"/>
                </a:lnTo>
                <a:cubicBezTo>
                  <a:pt x="1108884" y="0"/>
                  <a:pt x="1143000" y="34116"/>
                  <a:pt x="1143000" y="76201"/>
                </a:cubicBezTo>
                <a:lnTo>
                  <a:pt x="1143000" y="352424"/>
                </a:lnTo>
                <a:cubicBezTo>
                  <a:pt x="1143000" y="394509"/>
                  <a:pt x="1108884" y="428625"/>
                  <a:pt x="1066799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0071C5">
              <a:alpha val="20000"/>
            </a:srgbClr>
          </a:solidFill>
          <a:ln w="12700">
            <a:solidFill>
              <a:srgbClr val="0071C5">
                <a:alpha val="50196"/>
              </a:srgbClr>
            </a:solidFill>
            <a:prstDash val="solid"/>
          </a:ln>
        </p:spPr>
      </p:sp>
      <p:sp>
        <p:nvSpPr>
          <p:cNvPr id="16" name="Text 13"/>
          <p:cNvSpPr/>
          <p:nvPr>
            <p:custDataLst>
              <p:tags r:id="rId8"/>
            </p:custDataLst>
          </p:nvPr>
        </p:nvSpPr>
        <p:spPr>
          <a:xfrm>
            <a:off x="385445" y="6038215"/>
            <a:ext cx="1407795" cy="419100"/>
          </a:xfrm>
          <a:prstGeom prst="rect">
            <a:avLst/>
          </a:prstGeom>
          <a:noFill/>
        </p:spPr>
        <p:txBody>
          <a:bodyPr wrap="square" lIns="190500" tIns="95250" rIns="190500" bIns="95250" rtlCol="0" anchor="ctr"/>
          <a:lstStyle/>
          <a:p>
            <a:pPr algn="ctr">
              <a:lnSpc>
                <a:spcPct val="130000"/>
              </a:lnSpc>
            </a:pPr>
            <a:r>
              <a:rPr lang="en-US" b="1" dirty="0">
                <a:solidFill>
                  <a:srgbClr val="0071C5"/>
                </a:solidFill>
                <a:latin typeface="微软雅黑" panose="020B0503020204020204" charset="-122"/>
                <a:ea typeface="微软雅黑" panose="020B0503020204020204" charset="-122"/>
                <a:cs typeface="MiSans" panose="00000500000000000000" pitchFamily="34" charset="-120"/>
              </a:rPr>
              <a:t>OpenVINO</a:t>
            </a:r>
            <a:endParaRPr lang="en-US" b="1" dirty="0">
              <a:solidFill>
                <a:srgbClr val="0071C5"/>
              </a:solidFill>
              <a:latin typeface="微软雅黑" panose="020B0503020204020204" charset="-122"/>
              <a:ea typeface="微软雅黑" panose="020B0503020204020204" charset="-122"/>
              <a:cs typeface="MiSans" panose="00000500000000000000" pitchFamily="34" charset="-120"/>
            </a:endParaRPr>
          </a:p>
        </p:txBody>
      </p:sp>
      <p:sp>
        <p:nvSpPr>
          <p:cNvPr id="17" name="Shape 14"/>
          <p:cNvSpPr/>
          <p:nvPr>
            <p:custDataLst>
              <p:tags r:id="rId9"/>
            </p:custDataLst>
          </p:nvPr>
        </p:nvSpPr>
        <p:spPr>
          <a:xfrm>
            <a:off x="1929619" y="6038471"/>
            <a:ext cx="1383087" cy="428625"/>
          </a:xfrm>
          <a:custGeom>
            <a:avLst/>
            <a:gdLst/>
            <a:ahLst/>
            <a:cxnLst/>
            <a:rect l="l" t="t" r="r" b="b"/>
            <a:pathLst>
              <a:path w="1304925" h="428625">
                <a:moveTo>
                  <a:pt x="76201" y="0"/>
                </a:moveTo>
                <a:lnTo>
                  <a:pt x="1228724" y="0"/>
                </a:lnTo>
                <a:cubicBezTo>
                  <a:pt x="1270809" y="0"/>
                  <a:pt x="1304925" y="34116"/>
                  <a:pt x="1304925" y="76201"/>
                </a:cubicBezTo>
                <a:lnTo>
                  <a:pt x="1304925" y="352424"/>
                </a:lnTo>
                <a:cubicBezTo>
                  <a:pt x="1304925" y="394509"/>
                  <a:pt x="1270809" y="428625"/>
                  <a:pt x="1228724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0071C5">
              <a:alpha val="20000"/>
            </a:srgbClr>
          </a:solidFill>
          <a:ln w="12700">
            <a:solidFill>
              <a:srgbClr val="0071C5">
                <a:alpha val="50196"/>
              </a:srgbClr>
            </a:solidFill>
            <a:prstDash val="solid"/>
          </a:ln>
        </p:spPr>
      </p:sp>
      <p:sp>
        <p:nvSpPr>
          <p:cNvPr id="18" name="Text 15"/>
          <p:cNvSpPr/>
          <p:nvPr>
            <p:custDataLst>
              <p:tags r:id="rId10"/>
            </p:custDataLst>
          </p:nvPr>
        </p:nvSpPr>
        <p:spPr>
          <a:xfrm>
            <a:off x="1838325" y="6028690"/>
            <a:ext cx="1589405" cy="419100"/>
          </a:xfrm>
          <a:prstGeom prst="rect">
            <a:avLst/>
          </a:prstGeom>
          <a:noFill/>
        </p:spPr>
        <p:txBody>
          <a:bodyPr wrap="square" lIns="190500" tIns="95250" rIns="190500" bIns="9525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solidFill>
                  <a:srgbClr val="0071C5"/>
                </a:solidFill>
                <a:latin typeface="微软雅黑" panose="020B0503020204020204" charset="-122"/>
                <a:ea typeface="微软雅黑" panose="020B0503020204020204" charset="-122"/>
                <a:cs typeface="MiSans" panose="00000500000000000000" pitchFamily="34" charset="-120"/>
              </a:rPr>
              <a:t>DeepSeek R1</a:t>
            </a:r>
            <a:endParaRPr lang="en-US" b="1" dirty="0">
              <a:solidFill>
                <a:srgbClr val="0071C5"/>
              </a:solidFill>
              <a:latin typeface="微软雅黑" panose="020B0503020204020204" charset="-122"/>
              <a:ea typeface="微软雅黑" panose="020B0503020204020204" charset="-122"/>
              <a:cs typeface="MiSans" panose="00000500000000000000" pitchFamily="34" charset="-120"/>
            </a:endParaRPr>
          </a:p>
        </p:txBody>
      </p:sp>
      <p:sp>
        <p:nvSpPr>
          <p:cNvPr id="19" name="Shape 16"/>
          <p:cNvSpPr/>
          <p:nvPr>
            <p:custDataLst>
              <p:tags r:id="rId11"/>
            </p:custDataLst>
          </p:nvPr>
        </p:nvSpPr>
        <p:spPr>
          <a:xfrm>
            <a:off x="3519182" y="6028946"/>
            <a:ext cx="1387440" cy="428625"/>
          </a:xfrm>
          <a:custGeom>
            <a:avLst/>
            <a:gdLst/>
            <a:ahLst/>
            <a:cxnLst/>
            <a:rect l="l" t="t" r="r" b="b"/>
            <a:pathLst>
              <a:path w="1266825" h="428625">
                <a:moveTo>
                  <a:pt x="76201" y="0"/>
                </a:moveTo>
                <a:lnTo>
                  <a:pt x="1190624" y="0"/>
                </a:lnTo>
                <a:cubicBezTo>
                  <a:pt x="1232709" y="0"/>
                  <a:pt x="1266825" y="34116"/>
                  <a:pt x="1266825" y="76201"/>
                </a:cubicBezTo>
                <a:lnTo>
                  <a:pt x="1266825" y="352424"/>
                </a:lnTo>
                <a:cubicBezTo>
                  <a:pt x="1266825" y="394509"/>
                  <a:pt x="1232709" y="428625"/>
                  <a:pt x="1190624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00B2A9">
              <a:alpha val="20000"/>
            </a:srgbClr>
          </a:solidFill>
          <a:ln w="12700">
            <a:solidFill>
              <a:srgbClr val="00B2A9">
                <a:alpha val="50196"/>
              </a:srgbClr>
            </a:solidFill>
            <a:prstDash val="solid"/>
          </a:ln>
        </p:spPr>
      </p:sp>
      <p:sp>
        <p:nvSpPr>
          <p:cNvPr id="20" name="Text 17"/>
          <p:cNvSpPr/>
          <p:nvPr>
            <p:custDataLst>
              <p:tags r:id="rId12"/>
            </p:custDataLst>
          </p:nvPr>
        </p:nvSpPr>
        <p:spPr>
          <a:xfrm>
            <a:off x="3472606" y="6025136"/>
            <a:ext cx="1575703" cy="419100"/>
          </a:xfrm>
          <a:prstGeom prst="rect">
            <a:avLst/>
          </a:prstGeom>
          <a:noFill/>
        </p:spPr>
        <p:txBody>
          <a:bodyPr wrap="square" lIns="190500" tIns="95250" rIns="190500" bIns="9525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MiSans" panose="00000500000000000000" pitchFamily="34" charset="-120"/>
              </a:rPr>
              <a:t>Text-to-SQL</a:t>
            </a:r>
            <a:endParaRPr lang="en-US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MiSans" panose="00000500000000000000" pitchFamily="34" charset="-120"/>
            </a:endParaRPr>
          </a:p>
        </p:txBody>
      </p:sp>
      <p:sp>
        <p:nvSpPr>
          <p:cNvPr id="21" name="Shape 18"/>
          <p:cNvSpPr/>
          <p:nvPr>
            <p:custDataLst>
              <p:tags r:id="rId13"/>
            </p:custDataLst>
          </p:nvPr>
        </p:nvSpPr>
        <p:spPr>
          <a:xfrm>
            <a:off x="5112711" y="6028946"/>
            <a:ext cx="1434385" cy="428625"/>
          </a:xfrm>
          <a:custGeom>
            <a:avLst/>
            <a:gdLst/>
            <a:ahLst/>
            <a:cxnLst/>
            <a:rect l="l" t="t" r="r" b="b"/>
            <a:pathLst>
              <a:path w="1314450" h="428625">
                <a:moveTo>
                  <a:pt x="76201" y="0"/>
                </a:moveTo>
                <a:lnTo>
                  <a:pt x="1238249" y="0"/>
                </a:lnTo>
                <a:cubicBezTo>
                  <a:pt x="1280334" y="0"/>
                  <a:pt x="1314450" y="34116"/>
                  <a:pt x="1314450" y="76201"/>
                </a:cubicBezTo>
                <a:lnTo>
                  <a:pt x="1314450" y="352424"/>
                </a:lnTo>
                <a:cubicBezTo>
                  <a:pt x="1314450" y="394509"/>
                  <a:pt x="1280334" y="428625"/>
                  <a:pt x="1238249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00B2A9">
              <a:alpha val="20000"/>
            </a:srgbClr>
          </a:solidFill>
          <a:ln w="12700">
            <a:solidFill>
              <a:srgbClr val="00B2A9">
                <a:alpha val="50196"/>
              </a:srgbClr>
            </a:solidFill>
            <a:prstDash val="solid"/>
          </a:ln>
        </p:spPr>
      </p:sp>
      <p:sp>
        <p:nvSpPr>
          <p:cNvPr id="22" name="Text 19"/>
          <p:cNvSpPr/>
          <p:nvPr>
            <p:custDataLst>
              <p:tags r:id="rId14"/>
            </p:custDataLst>
          </p:nvPr>
        </p:nvSpPr>
        <p:spPr>
          <a:xfrm>
            <a:off x="5070475" y="6013450"/>
            <a:ext cx="1658620" cy="419100"/>
          </a:xfrm>
          <a:prstGeom prst="rect">
            <a:avLst/>
          </a:prstGeom>
          <a:noFill/>
        </p:spPr>
        <p:txBody>
          <a:bodyPr wrap="square" lIns="190500" tIns="95250" rIns="190500" bIns="9525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MiSans" panose="00000500000000000000" pitchFamily="34" charset="-120"/>
              </a:rPr>
              <a:t>Local Privacy</a:t>
            </a:r>
            <a:endParaRPr lang="en-US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MiSans" panose="00000500000000000000" pitchFamily="34" charset="-120"/>
            </a:endParaRPr>
          </a:p>
        </p:txBody>
      </p:sp>
      <p:pic>
        <p:nvPicPr>
          <p:cNvPr id="23" name="图片 22" descr="post_object_image_161400051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5823" y="371417"/>
            <a:ext cx="828385" cy="828385"/>
          </a:xfrm>
          <a:prstGeom prst="roundRect">
            <a:avLst>
              <a:gd name="adj" fmla="val 12000"/>
            </a:avLst>
          </a:prstGeom>
          <a:noFill/>
          <a:ln w="19050" cmpd="sng">
            <a:noFill/>
            <a:prstDash val="solid"/>
            <a:miter lim="800000"/>
            <a:headEnd/>
            <a:tailEnd/>
          </a:ln>
          <a:effectLst>
            <a:softEdge rad="0"/>
          </a:effectLst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381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A5BC7"/>
                </a:solidFill>
                <a:latin typeface="微软雅黑" panose="020B0503020204020204" charset="-122"/>
                <a:ea typeface="微软雅黑" panose="020B0503020204020204" charset="-122"/>
                <a:cs typeface="Montserrat"/>
                <a:sym typeface="Montserrat"/>
              </a:rPr>
              <a:t>目录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3556000" cy="1270000"/>
          </a:xfrm>
          <a:prstGeom prst="roundRect">
            <a:avLst>
              <a:gd name="adj" fmla="val 8000"/>
            </a:avLst>
          </a:pr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0" rIns="25400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588F0"/>
                </a:solidFill>
                <a:latin typeface="Poppins"/>
                <a:ea typeface="Poppins"/>
                <a:cs typeface="Poppins"/>
                <a:sym typeface="Poppins"/>
              </a:rPr>
              <a:t>1.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3A5BC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痛点与机会</a:t>
            </a:r>
            <a:endParaRPr lang="en-US" sz="1800" b="1" i="0" u="none" strike="noStrike">
              <a:solidFill>
                <a:srgbClr val="3A5BC7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3302000"/>
            <a:ext cx="3556000" cy="1270000"/>
          </a:xfrm>
          <a:prstGeom prst="roundRect">
            <a:avLst>
              <a:gd name="adj" fmla="val 8000"/>
            </a:avLst>
          </a:pr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0" rIns="25400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588F0"/>
                </a:solidFill>
                <a:latin typeface="Poppins"/>
                <a:ea typeface="Poppins"/>
                <a:cs typeface="Poppins"/>
                <a:sym typeface="Poppins"/>
              </a:rPr>
              <a:t>2.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3A5BC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解决方案与核心价值</a:t>
            </a:r>
            <a:endParaRPr lang="en-US" sz="1800" b="1" i="0" u="none" strike="noStrike">
              <a:solidFill>
                <a:srgbClr val="3A5BC7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62000" y="4826000"/>
            <a:ext cx="3556000" cy="1270000"/>
          </a:xfrm>
          <a:prstGeom prst="roundRect">
            <a:avLst>
              <a:gd name="adj" fmla="val 8000"/>
            </a:avLst>
          </a:pr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0" rIns="25400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588F0"/>
                </a:solidFill>
                <a:latin typeface="Poppins"/>
                <a:ea typeface="Poppins"/>
                <a:cs typeface="Poppins"/>
                <a:sym typeface="Poppins"/>
              </a:rPr>
              <a:t>3.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3A5BC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系统架构与工作流</a:t>
            </a:r>
            <a:endParaRPr lang="en-US" sz="1800" b="1" i="0" u="none" strike="noStrike">
              <a:solidFill>
                <a:srgbClr val="3A5BC7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4572000" y="1778000"/>
            <a:ext cx="3556000" cy="1270000"/>
          </a:xfrm>
          <a:prstGeom prst="roundRect">
            <a:avLst>
              <a:gd name="adj" fmla="val 8000"/>
            </a:avLst>
          </a:pr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0" rIns="25400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588F0"/>
                </a:solidFill>
                <a:latin typeface="Poppins"/>
                <a:ea typeface="Poppins"/>
                <a:cs typeface="Poppins"/>
                <a:sym typeface="Poppins"/>
              </a:rPr>
              <a:t>4.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3A5BC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软件创新</a:t>
            </a:r>
            <a:endParaRPr lang="en-US" sz="1800" b="1" i="0" u="none" strike="noStrike">
              <a:solidFill>
                <a:srgbClr val="3A5BC7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572000" y="3302000"/>
            <a:ext cx="3556000" cy="1270000"/>
          </a:xfrm>
          <a:prstGeom prst="roundRect">
            <a:avLst>
              <a:gd name="adj" fmla="val 8000"/>
            </a:avLst>
          </a:pr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0" rIns="254000" bIns="0" rtlCol="0" anchor="ctr" anchorCtr="0">
            <a:normAutofit lnSpcReduction="2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588F0"/>
                </a:solidFill>
                <a:latin typeface="Poppins"/>
                <a:ea typeface="Poppins"/>
                <a:cs typeface="Poppins"/>
                <a:sym typeface="Poppins"/>
              </a:rPr>
              <a:t>5.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3A5BC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硬件优化</a:t>
            </a:r>
            <a:endParaRPr lang="en-US" sz="1800" b="1" i="0" u="none" strike="noStrike">
              <a:solidFill>
                <a:srgbClr val="3A5BC7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Open Sans" panose="020B0606030504020204"/>
              </a:rPr>
              <a:t>CPU / GPU / OpenVINO / 调度</a:t>
            </a:r>
            <a:endParaRPr lang="en-US" sz="1200" b="0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Open Sans" panose="020B0606030504020204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572000" y="4826000"/>
            <a:ext cx="3556000" cy="1270000"/>
          </a:xfrm>
          <a:prstGeom prst="roundRect">
            <a:avLst>
              <a:gd name="adj" fmla="val 8000"/>
            </a:avLst>
          </a:pr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0" rIns="254000" bIns="0" rtlCol="0" anchor="ctr" anchorCtr="0">
            <a:normAutofit lnSpcReduction="1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588F0"/>
                </a:solidFill>
                <a:latin typeface="Poppins"/>
                <a:ea typeface="Poppins"/>
                <a:cs typeface="Poppins"/>
                <a:sym typeface="Poppins"/>
              </a:rPr>
              <a:t>6.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3A5BC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性能基准</a:t>
            </a:r>
            <a:endParaRPr lang="en-US" sz="1800" b="1" i="0" u="none" strike="noStrike">
              <a:solidFill>
                <a:srgbClr val="3A5BC7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200" b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Open Sans" panose="020B0606030504020204"/>
                <a:sym typeface="Open Sans" panose="020B0606030504020204"/>
              </a:rPr>
              <a:t>2.09x / ≤3s / 4.0x / 10+</a:t>
            </a:r>
            <a:endParaRPr lang="en-US" sz="1200" b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Open Sans" panose="020B0606030504020204"/>
              <a:sym typeface="Open Sans" panose="020B0606030504020204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382000" y="1778000"/>
            <a:ext cx="3048000" cy="1270000"/>
          </a:xfrm>
          <a:prstGeom prst="roundRect">
            <a:avLst>
              <a:gd name="adj" fmla="val 8000"/>
            </a:avLst>
          </a:pr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0" rIns="25400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588F0"/>
                </a:solidFill>
                <a:latin typeface="Poppins"/>
                <a:ea typeface="Poppins"/>
                <a:cs typeface="Poppins"/>
                <a:sym typeface="Poppins"/>
              </a:rPr>
              <a:t>7.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3A5BC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业务功能</a:t>
            </a:r>
            <a:endParaRPr lang="en-US" sz="1600" b="1" i="0" u="none" strike="noStrike">
              <a:solidFill>
                <a:srgbClr val="3A5B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8382000" y="3302000"/>
            <a:ext cx="3048000" cy="1270000"/>
          </a:xfrm>
          <a:prstGeom prst="roundRect">
            <a:avLst>
              <a:gd name="adj" fmla="val 8000"/>
            </a:avLst>
          </a:pr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0" rIns="25400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588F0"/>
                </a:solidFill>
                <a:latin typeface="Poppins"/>
                <a:ea typeface="Poppins"/>
                <a:cs typeface="Poppins"/>
                <a:sym typeface="Poppins"/>
              </a:rPr>
              <a:t>8.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3A5BC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商业价值与ROI</a:t>
            </a:r>
            <a:endParaRPr lang="en-US" sz="1600" b="1" i="0" u="none" strike="noStrike">
              <a:solidFill>
                <a:srgbClr val="3A5B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8382000" y="4826000"/>
            <a:ext cx="3048000" cy="1270000"/>
          </a:xfrm>
          <a:prstGeom prst="roundRect">
            <a:avLst>
              <a:gd name="adj" fmla="val 8000"/>
            </a:avLst>
          </a:pr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0" rIns="25400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588F0"/>
                </a:solidFill>
                <a:latin typeface="Poppins"/>
                <a:ea typeface="Poppins"/>
                <a:cs typeface="Poppins"/>
                <a:sym typeface="Poppins"/>
              </a:rPr>
              <a:t>9.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3A5BC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总结与展望</a:t>
            </a:r>
            <a:endParaRPr lang="en-US" sz="1800" b="1" i="0" u="none" strike="noStrike">
              <a:solidFill>
                <a:srgbClr val="3A5BC7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 fontScale="70000" lnSpcReduction="2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4600" b="1" i="0" u="none" strike="noStrike">
                <a:solidFill>
                  <a:srgbClr val="3A5BC7"/>
                </a:solidFill>
                <a:latin typeface="微软雅黑" panose="020B0503020204020204" charset="-122"/>
                <a:ea typeface="微软雅黑" panose="020B0503020204020204" charset="-122"/>
                <a:cs typeface="Montserrat"/>
                <a:sym typeface="Montserrat"/>
              </a:rPr>
              <a:t>行业痛点：数据丰富但洞察匮乏</a:t>
            </a:r>
            <a:endParaRPr lang="en-US"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2000" b="1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Open Sans" panose="020B0606030504020204"/>
              </a:rPr>
              <a:t>The Data Paradox：海量数据下的决策困境</a:t>
            </a:r>
            <a:endParaRPr lang="en-US" sz="2000" b="1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Open Sans" panose="020B0606030504020204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2168525"/>
            <a:ext cx="3302000" cy="2402840"/>
          </a:xfrm>
          <a:prstGeom prst="roundRect">
            <a:avLst>
              <a:gd name="adj" fmla="val 3333"/>
            </a:avLst>
          </a:pr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254000" rIns="25400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58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 BI 工具</a:t>
            </a:r>
            <a:endParaRPr lang="en-US" sz="2000" b="1" i="0" u="none" strike="noStrike">
              <a:solidFill>
                <a:srgbClr val="0588F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• 依赖预设仪表盘，缺乏灵活性</a:t>
            </a:r>
            <a:endParaRPr lang="en-US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• 无法响应突发性归因分析</a:t>
            </a:r>
            <a:endParaRPr lang="en-US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1" u="none" strike="noStrike">
                <a:solidFill>
                  <a:srgbClr val="83838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"为什么上周二利润突然下跌？"</a:t>
            </a:r>
            <a:endParaRPr lang="en-US" sz="1400" b="0" i="1" u="none" strike="noStrike">
              <a:solidFill>
                <a:srgbClr val="83838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4445000" y="2168525"/>
            <a:ext cx="3302000" cy="2402840"/>
          </a:xfrm>
          <a:prstGeom prst="roundRect">
            <a:avLst>
              <a:gd name="adj" fmla="val 3333"/>
            </a:avLst>
          </a:pr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254000" rIns="25400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58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SQL 查询与外包</a:t>
            </a:r>
            <a:endParaRPr lang="en-US" sz="2000" b="1" i="0" u="none" strike="noStrike">
              <a:solidFill>
                <a:srgbClr val="0588F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技术门槛高，业务人员无法自助</a:t>
            </a:r>
            <a:endParaRPr lang="en-US" sz="1400" b="0" i="0" u="none" strike="noStrike">
              <a:solidFill>
                <a:srgbClr val="6464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响应周期长，难以支撑实时决策</a:t>
            </a:r>
            <a:endParaRPr lang="en-US" sz="1400" b="0" i="0" u="none" strike="noStrike">
              <a:solidFill>
                <a:srgbClr val="6464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8128000" y="2168525"/>
            <a:ext cx="3302000" cy="2402840"/>
          </a:xfrm>
          <a:prstGeom prst="roundRect">
            <a:avLst>
              <a:gd name="adj" fmla="val 3333"/>
            </a:avLst>
          </a:pr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254000" rIns="25400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58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公有云 AI 服务</a:t>
            </a:r>
            <a:endParaRPr lang="en-US" sz="2000" b="1" i="0" u="none" strike="noStrike">
              <a:solidFill>
                <a:srgbClr val="0588F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需上传敏感经营数据</a:t>
            </a:r>
            <a:endParaRPr lang="en-US" sz="1400" b="0" i="0" u="none" strike="noStrike">
              <a:solidFill>
                <a:srgbClr val="6464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存在严重合规与安全隐患</a:t>
            </a:r>
            <a:endParaRPr lang="en-US" sz="1400" b="0" i="0" u="none" strike="noStrike">
              <a:solidFill>
                <a:srgbClr val="6464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不符合《数据安全法》要求</a:t>
            </a:r>
            <a:endParaRPr lang="en-US" sz="1400" b="0" i="0" u="none" strike="noStrike">
              <a:solidFill>
                <a:srgbClr val="6464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1975" y="5201542"/>
            <a:ext cx="10668000" cy="1016000"/>
          </a:xfrm>
          <a:prstGeom prst="roundRect">
            <a:avLst>
              <a:gd name="adj" fmla="val 0"/>
            </a:avLst>
          </a:prstGeom>
          <a:solidFill>
            <a:srgbClr val="E6F7FF">
              <a:alpha val="100000"/>
            </a:srgbClr>
          </a:solidFill>
          <a:ln w="25400" cap="flat" cmpd="sng">
            <a:solidFill>
              <a:srgbClr val="058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58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结论：市场急需一种“零门槛、全本地、高性能”的智能决策工具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A5BC7"/>
                </a:solidFill>
                <a:latin typeface="微软雅黑" panose="020B0503020204020204" charset="-122"/>
                <a:ea typeface="微软雅黑" panose="020B0503020204020204" charset="-122"/>
                <a:cs typeface="Montserrat"/>
                <a:sym typeface="Montserrat"/>
              </a:rPr>
              <a:t>解决方案：全本地化智能决策平台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10668000" cy="1016000"/>
          </a:xfrm>
          <a:prstGeom prst="roundRect">
            <a:avLst>
              <a:gd name="adj" fmla="val 15000"/>
            </a:avLst>
          </a:prstGeom>
          <a:solidFill>
            <a:srgbClr val="F0F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A5B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DeepInsight</a:t>
            </a:r>
            <a:r>
              <a:rPr lang="en-US" sz="28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= </a:t>
            </a:r>
            <a:r>
              <a:rPr lang="en-US" sz="2800" b="1" i="0" u="none" strike="noStrike">
                <a:solidFill>
                  <a:srgbClr val="058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DeepSeek R1</a:t>
            </a:r>
            <a:r>
              <a:rPr lang="en-US" sz="20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(逻辑推理)</a:t>
            </a:r>
            <a:r>
              <a:rPr lang="en-US" sz="28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+ </a:t>
            </a:r>
            <a:r>
              <a:rPr lang="en-US" sz="2800" b="1" i="0" u="none" strike="noStrike">
                <a:solidFill>
                  <a:srgbClr val="00A2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OpenVINO™</a:t>
            </a:r>
            <a:r>
              <a:rPr lang="en-US" sz="20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(边缘加速)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921000"/>
            <a:ext cx="5080000" cy="1524000"/>
          </a:xfrm>
          <a:prstGeom prst="roundRect">
            <a:avLst>
              <a:gd name="adj" fmla="val 6666"/>
            </a:avLst>
          </a:pr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254000" rIns="25400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58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🚀  零门槛交互</a:t>
            </a:r>
            <a:endParaRPr lang="en-US" sz="10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基于 Text-to-SQL 技术，无需编程基础，自然语言提问秒级获得专业分析。</a:t>
            </a:r>
            <a:endParaRPr lang="en-US" sz="1600" b="0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6350000" y="2921000"/>
            <a:ext cx="5080000" cy="1524000"/>
          </a:xfrm>
          <a:prstGeom prst="roundRect">
            <a:avLst>
              <a:gd name="adj" fmla="val 6666"/>
            </a:avLst>
          </a:pr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254000" rIns="25400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58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🔒  数据安全可控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全本地私有部署，数据不出内网，完全满足合规要求，保障核心资产安全。</a:t>
            </a:r>
            <a:endParaRPr lang="en-US" sz="1600" b="0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4699000"/>
            <a:ext cx="5080000" cy="1524000"/>
          </a:xfrm>
          <a:prstGeom prst="roundRect">
            <a:avLst>
              <a:gd name="adj" fmla="val 6666"/>
            </a:avLst>
          </a:pr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254000" rIns="25400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58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⚡  硬件效能极致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集成 AVX-512 与 Iris Xe 核显加速，现有设备性能提升 4 倍。</a:t>
            </a:r>
            <a:endParaRPr lang="en-US" sz="1600" b="0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350000" y="4699000"/>
            <a:ext cx="5080000" cy="1524000"/>
          </a:xfrm>
          <a:prstGeom prst="roundRect">
            <a:avLst>
              <a:gd name="adj" fmla="val 6666"/>
            </a:avLst>
          </a:pr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254000" rIns="25400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58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🧠  智能业务理解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内置零售行业知识图谱，精准理解“复购率”、“坪效”等专业术语。</a:t>
            </a:r>
            <a:endParaRPr lang="en-US" sz="1600" b="0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54882" y="118273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A5BC7"/>
                </a:solidFill>
                <a:latin typeface="微软雅黑" panose="020B0503020204020204" charset="-122"/>
                <a:ea typeface="微软雅黑" panose="020B0503020204020204" charset="-122"/>
                <a:cs typeface="Montserrat"/>
                <a:sym typeface="Montserrat"/>
              </a:rPr>
              <a:t>系统架构：分层设计与模块协同</a:t>
            </a:r>
            <a:endParaRPr lang="en-US" sz="320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3" name="图片 12" descr="post_object_image_188192767"/>
          <p:cNvPicPr>
            <a:picLocks noChangeAspect="1"/>
          </p:cNvPicPr>
          <p:nvPr/>
        </p:nvPicPr>
        <p:blipFill>
          <a:blip r:embed="rId1"/>
          <a:srcRect t="7599"/>
          <a:stretch>
            <a:fillRect/>
          </a:stretch>
        </p:blipFill>
        <p:spPr>
          <a:xfrm>
            <a:off x="2049900" y="1159372"/>
            <a:ext cx="8093384" cy="5435372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140460" y="1591945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25647" y="163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i="0" u="none" strike="noStrike">
                <a:solidFill>
                  <a:srgbClr val="3A5BC7"/>
                </a:solidFill>
                <a:latin typeface="微软雅黑" panose="020B0503020204020204" charset="-122"/>
                <a:ea typeface="微软雅黑" panose="020B0503020204020204" charset="-122"/>
                <a:cs typeface="Montserrat"/>
                <a:sym typeface="Montserrat"/>
              </a:rPr>
              <a:t>功能</a:t>
            </a:r>
            <a:r>
              <a:rPr lang="en-US" sz="3200" b="1" i="0" u="none" strike="noStrike">
                <a:solidFill>
                  <a:srgbClr val="3A5BC7"/>
                </a:solidFill>
                <a:latin typeface="微软雅黑" panose="020B0503020204020204" charset="-122"/>
                <a:ea typeface="微软雅黑" panose="020B0503020204020204" charset="-122"/>
                <a:cs typeface="Montserrat"/>
                <a:sym typeface="Montserrat"/>
              </a:rPr>
              <a:t>架构</a:t>
            </a:r>
            <a:endParaRPr lang="en-US" sz="320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 descr="功能模块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8685" y="0"/>
            <a:ext cx="783526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08319" y="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3A5BC7"/>
                </a:solidFill>
                <a:latin typeface="微软雅黑" panose="020B0503020204020204" charset="-122"/>
                <a:ea typeface="微软雅黑" panose="020B0503020204020204" charset="-122"/>
                <a:cs typeface="Montserrat"/>
                <a:sym typeface="Montserrat"/>
              </a:rPr>
              <a:t>核心工作流</a:t>
            </a:r>
            <a:endParaRPr lang="en-US" sz="260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 4" descr="post_object_image_308527676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046" y="761968"/>
            <a:ext cx="10815101" cy="58903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00355" y="37973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A5B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Montserrat"/>
              </a:rPr>
              <a:t>核心工作流：11阶段端到端处理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图片 4" descr="工作流程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355" y="1423670"/>
            <a:ext cx="11344275" cy="47713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00355" y="37973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A5B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Montserrat"/>
              </a:rPr>
              <a:t>核心</a:t>
            </a:r>
            <a:r>
              <a:rPr lang="zh-CN" altLang="en-US" sz="3600" b="1" i="0" u="none" strike="noStrike">
                <a:solidFill>
                  <a:srgbClr val="3A5B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Montserrat"/>
              </a:rPr>
              <a:t>技术</a:t>
            </a:r>
            <a:r>
              <a:rPr lang="zh-CN" altLang="en-US" sz="3600" b="1" i="0" u="none" strike="noStrike">
                <a:solidFill>
                  <a:srgbClr val="3A5B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Montserrat"/>
              </a:rPr>
              <a:t>组件</a:t>
            </a:r>
            <a:endParaRPr lang="zh-CN" altLang="en-US" sz="3600" b="1" i="0" u="none" strike="noStrike">
              <a:solidFill>
                <a:srgbClr val="3A5B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Montserra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355" y="1164590"/>
            <a:ext cx="11819890" cy="56934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A5BC7"/>
                </a:solidFill>
                <a:latin typeface="微软雅黑" panose="020B0503020204020204" charset="-122"/>
                <a:ea typeface="微软雅黑" panose="020B0503020204020204" charset="-122"/>
                <a:cs typeface="Montserrat"/>
                <a:sym typeface="Montserrat"/>
              </a:rPr>
              <a:t>软件创新：智能理解与鲁棒性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3302000" cy="3667060"/>
          </a:xfrm>
          <a:prstGeom prst="roundRect">
            <a:avLst>
              <a:gd name="adj" fmla="val 3076"/>
            </a:avLst>
          </a:pr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254000" rIns="25400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58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</a:t>
            </a:r>
            <a:r>
              <a:rPr lang="en-US" altLang="zh-CN" sz="2400" b="1" i="0" u="none" strike="noStrike">
                <a:solidFill>
                  <a:srgbClr val="0588F0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 pitchFamily="34" charset="0"/>
                <a:sym typeface="Noto Sans SC" panose="020B0200000000000000" charset="-122"/>
              </a:rPr>
              <a:t>.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2000" b="1" i="0" u="none" strike="noStrike">
                <a:solidFill>
                  <a:srgbClr val="3A5B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多可能性枚举</a:t>
            </a:r>
            <a:endParaRPr lang="en-US" sz="2000" b="1" i="0" u="none" strike="noStrike">
              <a:solidFill>
                <a:srgbClr val="3A5B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针对自然语言歧义（如时间、指标），生成 2-5 种理解路径。</a:t>
            </a:r>
            <a:endParaRPr lang="en-US" sz="1600" b="0" i="0" u="none" strike="noStrike">
              <a:solidFill>
                <a:srgbClr val="6464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基于置信度评分决策，优先执行高分路径，失败自动切换。</a:t>
            </a:r>
            <a:endParaRPr lang="en-US" sz="1600" b="0" i="0" u="none" strike="noStrike">
              <a:solidFill>
                <a:srgbClr val="6464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4445000" y="1778000"/>
            <a:ext cx="3302000" cy="3667110"/>
          </a:xfrm>
          <a:prstGeom prst="roundRect">
            <a:avLst>
              <a:gd name="adj" fmla="val 3076"/>
            </a:avLst>
          </a:pr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254000" rIns="25400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58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</a:t>
            </a:r>
            <a:r>
              <a:rPr lang="en-US" altLang="zh-CN" sz="2400" b="1" i="0" u="none" strike="noStrike">
                <a:solidFill>
                  <a:srgbClr val="0588F0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 pitchFamily="34" charset="0"/>
                <a:sym typeface="Noto Sans SC" panose="020B0200000000000000" charset="-122"/>
              </a:rPr>
              <a:t>.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2000" b="1" i="0" u="none" strike="noStrike">
                <a:solidFill>
                  <a:srgbClr val="3A5B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三步智能表选择</a:t>
            </a:r>
            <a:endParaRPr lang="en-US" sz="2000" b="1" i="0" u="none" strike="noStrike">
              <a:solidFill>
                <a:srgbClr val="3A5B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语义初筛 (Top-8)</a:t>
            </a:r>
            <a:endParaRPr lang="en-US" sz="1600" b="1" i="0" u="none" strike="noStrike">
              <a:solidFill>
                <a:srgbClr val="6464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83838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OpenVINO 向量相似度</a:t>
            </a:r>
            <a:endParaRPr lang="en-US" sz="1600" b="0" i="0" u="none" strike="noStrike">
              <a:solidFill>
                <a:srgbClr val="83838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Agent 精筛 (Top-2)</a:t>
            </a:r>
            <a:endParaRPr lang="en-US" sz="1600" b="1" i="0" u="none" strike="noStrike">
              <a:solidFill>
                <a:srgbClr val="6464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83838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LLM 深入分析结构</a:t>
            </a:r>
            <a:endParaRPr lang="en-US" sz="1600" b="0" i="0" u="none" strike="noStrike">
              <a:solidFill>
                <a:srgbClr val="83838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关联推导</a:t>
            </a:r>
            <a:endParaRPr lang="en-US" sz="1600" b="1" i="0" u="none" strike="noStrike">
              <a:solidFill>
                <a:srgbClr val="6464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83838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自动构建 JOIN 关系</a:t>
            </a:r>
            <a:endParaRPr lang="en-US" sz="1600" b="0" i="0" u="none" strike="noStrike">
              <a:solidFill>
                <a:srgbClr val="83838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8128000" y="1778000"/>
            <a:ext cx="3302000" cy="3667110"/>
          </a:xfrm>
          <a:prstGeom prst="roundRect">
            <a:avLst>
              <a:gd name="adj" fmla="val 3076"/>
            </a:avLst>
          </a:pr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254000" rIns="25400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58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</a:t>
            </a:r>
            <a:r>
              <a:rPr lang="en-US" altLang="zh-CN" sz="2400" b="1" i="0" u="none" strike="noStrike">
                <a:solidFill>
                  <a:srgbClr val="0588F0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 pitchFamily="34" charset="0"/>
                <a:sym typeface="Noto Sans SC" panose="020B0200000000000000" charset="-122"/>
              </a:rPr>
              <a:t>.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2000" b="1" i="0" u="none" strike="noStrike">
                <a:solidFill>
                  <a:srgbClr val="3A5B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错误上下文自愈</a:t>
            </a:r>
            <a:endParaRPr lang="en-US" sz="2000" b="1" i="0" u="none" strike="noStrike">
              <a:solidFill>
                <a:srgbClr val="3A5B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建立闭环反馈系统，自动捕获执行错误。</a:t>
            </a:r>
            <a:endParaRPr lang="en-US" sz="1600" b="0" i="0" u="none" strike="noStrike">
              <a:solidFill>
                <a:srgbClr val="6464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自动分类（语法/逻辑），将错误日志作为 Context 反馈给 LLM 进行重试，实现系统自愈。</a:t>
            </a:r>
            <a:endParaRPr lang="en-US" sz="1600" b="0" i="0" u="none" strike="noStrike">
              <a:solidFill>
                <a:srgbClr val="6464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A5B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Montserrat"/>
              </a:rPr>
              <a:t>硬件解决方案 I - Intel CPU 深度优化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1662430"/>
            <a:ext cx="10668000" cy="1385570"/>
          </a:xfrm>
          <a:prstGeom prst="roundRect">
            <a:avLst>
              <a:gd name="adj" fmla="val 8000"/>
            </a:avLst>
          </a:pr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254000" rIns="0" bIns="0" rtlCol="0" anchor="t" anchorCtr="0">
            <a:normAutofit/>
          </a:bodyPr>
          <a:lstStyle/>
          <a:p>
            <a:pPr indent="0" algn="l">
              <a:lnSpc>
                <a:spcPct val="115000"/>
              </a:lnSpc>
              <a:defRPr/>
            </a:pPr>
            <a:r>
              <a:rPr lang="en-US" sz="2200" b="1" i="0" u="none" strike="noStrike">
                <a:solidFill>
                  <a:srgbClr val="0588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指令集向量化 (AVX-512 / AVX2)</a:t>
            </a:r>
            <a:endParaRPr lang="en-US" sz="2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15000"/>
              </a:lnSpc>
            </a:pPr>
            <a:r>
              <a:rPr lang="en-US" sz="1600" b="0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系统自动检测硬件特性，利用 AVX-512 指令集优化 RAG 检索中的 Cosine Similarity 计算与矩阵运算，大幅提升向量检索速度。</a:t>
            </a:r>
            <a:endParaRPr lang="en-US" sz="1600" b="0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15000"/>
              </a:lnSpc>
            </a:pPr>
            <a:endParaRPr lang="en-US" sz="1600" b="0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3302000"/>
            <a:ext cx="10668000" cy="1270000"/>
          </a:xfrm>
          <a:prstGeom prst="roundRect">
            <a:avLst>
              <a:gd name="adj" fmla="val 8000"/>
            </a:avLst>
          </a:pr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254000" rIns="0" bIns="0" rtlCol="0" anchor="t" anchorCtr="0">
            <a:normAutofit fontScale="77500"/>
          </a:bodyPr>
          <a:lstStyle/>
          <a:p>
            <a:pPr indent="0" algn="l">
              <a:lnSpc>
                <a:spcPct val="115000"/>
              </a:lnSpc>
              <a:defRPr/>
            </a:pPr>
            <a:r>
              <a:rPr lang="en-US" sz="2580" b="1" i="0" u="none" strike="noStrike">
                <a:solidFill>
                  <a:srgbClr val="0588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Intel MKL 数学库集成</a:t>
            </a:r>
            <a:endParaRPr lang="en-US" sz="258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15000"/>
              </a:lnSpc>
            </a:pPr>
            <a:r>
              <a:rPr lang="en-US" sz="2065" b="0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针对 BLAS、FFT 及 VML 进行深度优化。通过 mkl.set_num_threads() 动态调整线程池，确保线性代数运算在 Intel 处理器上达到最优吞吐。</a:t>
            </a:r>
            <a:endParaRPr lang="en-US" sz="2065" b="0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62000" y="4826000"/>
            <a:ext cx="10668000" cy="1270000"/>
          </a:xfrm>
          <a:prstGeom prst="roundRect">
            <a:avLst>
              <a:gd name="adj" fmla="val 8000"/>
            </a:avLst>
          </a:pr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254000" rIns="0" bIns="0" rtlCol="0" anchor="t" anchorCtr="0">
            <a:normAutofit fontScale="75000"/>
          </a:bodyPr>
          <a:lstStyle/>
          <a:p>
            <a:pPr indent="0" algn="l">
              <a:lnSpc>
                <a:spcPct val="115000"/>
              </a:lnSpc>
              <a:defRPr/>
            </a:pPr>
            <a:r>
              <a:rPr lang="en-US" sz="2355" b="1" i="0" u="none" strike="noStrike">
                <a:solidFill>
                  <a:srgbClr val="0588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TBB 并行计算架构</a:t>
            </a:r>
            <a:endParaRPr lang="en-US" sz="2355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15000"/>
              </a:lnSpc>
            </a:pPr>
            <a:r>
              <a:rPr lang="en-US" sz="2135" b="0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采用 Intel TBB 思想，在数据预处理阶段实现 parallel_for 模式，将大规模数据清洗任务均匀分配至 CPU 多核，优化负载平衡。</a:t>
            </a:r>
            <a:endParaRPr lang="en-US" sz="2135" b="0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A5B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Montserrat"/>
              </a:rPr>
              <a:t>硬件解决方案 II - GPU 异构加速与 OpenVINO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58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Iris Xe 集成显卡加速</a:t>
            </a:r>
            <a:endParaRPr lang="en-US" sz="2800" b="1" i="0" u="none" strike="noStrike">
              <a:solidFill>
                <a:srgbClr val="0588F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2413000"/>
            <a:ext cx="5080000" cy="3542665"/>
          </a:xfrm>
          <a:prstGeom prst="roundRect">
            <a:avLst>
              <a:gd name="adj" fmla="val 2666"/>
            </a:avLst>
          </a:pr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254000" rIns="254000" bIns="0" rtlCol="0" anchor="t" anchorCtr="0">
            <a:normAutofit/>
          </a:bodyPr>
          <a:lstStyle/>
          <a:p>
            <a:pPr indent="0" algn="l">
              <a:lnSpc>
                <a:spcPct val="115000"/>
              </a:lnSpc>
              <a:defRPr/>
            </a:pPr>
            <a:r>
              <a:rPr lang="en-US" sz="2400" b="1" i="0" u="none" strike="noStrike">
                <a:solidFill>
                  <a:srgbClr val="3A5B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IPEX 集成</a:t>
            </a:r>
            <a:endParaRPr 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15000"/>
              </a:lnSpc>
            </a:pPr>
            <a:r>
              <a:rPr lang="en-US" sz="1600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通过 Intel Extension for PyTorch (IPEX) 将张量计算无缝迁移至 Iris Xe GPU (96 EUs)。</a:t>
            </a:r>
            <a:endParaRPr lang="en-US" sz="1600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15000"/>
              </a:lnSpc>
            </a:pPr>
            <a:endParaRPr lang="en-US" sz="1600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15000"/>
              </a:lnSpc>
            </a:pPr>
            <a:r>
              <a:rPr lang="en-US" sz="2400" b="1" i="0" u="none" strike="noStrike">
                <a:solidFill>
                  <a:srgbClr val="3A5B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OpenCL 算子</a:t>
            </a:r>
            <a:endParaRPr lang="en-US" sz="2400" b="1" i="0" u="none" strike="noStrike">
              <a:solidFill>
                <a:srgbClr val="3A5B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15000"/>
              </a:lnSpc>
            </a:pPr>
            <a:r>
              <a:rPr lang="en-US" sz="1600" b="0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大数据集聚合时调用 OpenCL 并行指令，释放 GPU 潜力，实现 CPU+GPU 协同。</a:t>
            </a:r>
            <a:endParaRPr lang="en-US" sz="1600" b="0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6350000" y="1651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A2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OpenVINO™ 推理引擎集成</a:t>
            </a:r>
            <a:endParaRPr lang="en-US" sz="2800" b="1" i="0" u="none" strike="noStrike">
              <a:solidFill>
                <a:srgbClr val="00A2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350000" y="2412365"/>
            <a:ext cx="5080000" cy="3543935"/>
          </a:xfrm>
          <a:prstGeom prst="roundRect">
            <a:avLst>
              <a:gd name="adj" fmla="val 2666"/>
            </a:avLst>
          </a:pr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254000" rIns="254000" bIns="0" rtlCol="0" anchor="t" anchorCtr="0">
            <a:normAutofit lnSpcReduction="2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A2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模型量化 (INT8)</a:t>
            </a:r>
            <a:endParaRPr 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15000"/>
              </a:lnSpc>
            </a:pPr>
            <a:r>
              <a:rPr lang="en-US" sz="1600" b="0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BGE-small Embedding 模型体积减少 75%，推理速度大幅提升。</a:t>
            </a:r>
            <a:endParaRPr lang="en-US" sz="1600" b="0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15000"/>
              </a:lnSpc>
            </a:pPr>
            <a:endParaRPr lang="en-US" sz="1600" b="0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35000"/>
              </a:lnSpc>
            </a:pPr>
            <a:r>
              <a:rPr lang="en-US" sz="2400" b="1" i="0" u="none" strike="noStrike">
                <a:solidFill>
                  <a:srgbClr val="00A2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图优化技术</a:t>
            </a:r>
            <a:endParaRPr lang="en-US" sz="2400" b="1" i="0" u="none" strike="noStrike">
              <a:solidFill>
                <a:srgbClr val="00A2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算子融合 (Operator Fusion) 与常量折叠。</a:t>
            </a:r>
            <a:endParaRPr lang="en-US" sz="1600" b="0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endParaRPr lang="en-US" sz="1600" b="0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2400" b="1" i="0" u="none" strike="noStrike">
                <a:solidFill>
                  <a:srgbClr val="00A2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推理加速配置</a:t>
            </a:r>
            <a:endParaRPr lang="en-US" sz="2400" b="1" i="0" u="none" strike="noStrike">
              <a:solidFill>
                <a:srgbClr val="00A2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配置 PERFORMANCE_HINT: LATENCY，优化内存布局以提升缓存命中率。</a:t>
            </a:r>
            <a:endParaRPr lang="en-US" sz="1600" b="0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A5B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Montserrat"/>
              </a:rPr>
              <a:t>硬件解决方案 III - 自适应调度与监控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10668000" cy="2540000"/>
          </a:xfrm>
          <a:prstGeom prst="roundRect">
            <a:avLst>
              <a:gd name="adj" fmla="val 4000"/>
            </a:avLst>
          </a:pr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254000" rIns="0" bIns="0" rtlCol="0" anchor="t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588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动态工作负载感知 (Dynamic Workload Perception)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ctr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实时分析 SQL 查询复杂度 (Join 数量、子查询层级)</a:t>
            </a:r>
            <a:endParaRPr lang="en-US" sz="1600" b="0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1997710" y="2886710"/>
            <a:ext cx="3463290" cy="92329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058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简单任务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83838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调度至多核 CPU</a:t>
            </a:r>
            <a:endParaRPr lang="en-US" sz="1400" b="0" i="0" u="none" strike="noStrike">
              <a:solidFill>
                <a:srgbClr val="83838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6731000" y="2886710"/>
            <a:ext cx="3440430" cy="92329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00A2C7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复杂任务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83838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调度至 Iris Xe GPU</a:t>
            </a:r>
            <a:endParaRPr lang="en-US" sz="1400" b="0" i="0" u="none" strike="noStrike">
              <a:solidFill>
                <a:srgbClr val="83838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4445000"/>
            <a:ext cx="10668000" cy="1524000"/>
          </a:xfrm>
          <a:prstGeom prst="roundRect">
            <a:avLst>
              <a:gd name="adj" fmla="val 6666"/>
            </a:avLst>
          </a:pr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50800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A5BC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性能监控闭环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集成增强型监控系统，实时反馈 CPU 使用率、Iris Xe 负载、磁盘 IO 及内存带宽。</a:t>
            </a:r>
            <a:endParaRPr lang="en-US" sz="1600" b="0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仪表盘直观展示 Intel 硬件带来的加速增益 (Acceleration Gain)。</a:t>
            </a:r>
            <a:endParaRPr lang="en-US" sz="1600" b="0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A5BC7"/>
                </a:solidFill>
                <a:latin typeface="微软雅黑" panose="020B0503020204020204" charset="-122"/>
                <a:ea typeface="微软雅黑" panose="020B0503020204020204" charset="-122"/>
                <a:cs typeface="Montserrat"/>
                <a:sym typeface="Montserrat"/>
              </a:rPr>
              <a:t>性能基准测试：方法与环境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1748155" y="1871345"/>
            <a:ext cx="4859655" cy="3876040"/>
          </a:xfrm>
          <a:prstGeom prst="roundRect">
            <a:avLst>
              <a:gd name="adj" fmla="val 2352"/>
            </a:avLst>
          </a:pr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 lnSpcReduction="10000"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8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🖥️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2400" b="1" i="0" u="none" strike="noStrike">
                <a:solidFill>
                  <a:srgbClr val="0588F0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测试环境</a:t>
            </a:r>
            <a:endParaRPr lang="en-US" sz="2400" b="1" i="0" u="none" strike="noStrike">
              <a:solidFill>
                <a:srgbClr val="0588F0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25000"/>
              </a:lnSpc>
            </a:pPr>
            <a:r>
              <a:rPr lang="en-US" sz="2000" b="1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Intel 第12代 Core 平台</a:t>
            </a:r>
            <a:endParaRPr lang="en-US" sz="2000" b="1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ctr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8383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(无独立显卡)</a:t>
            </a:r>
            <a:endParaRPr lang="en-US" sz="1600" b="1" i="0" u="none" strike="noStrike">
              <a:solidFill>
                <a:srgbClr val="8383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ctr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旨在验证普通商用笔记本的</a:t>
            </a:r>
            <a:endParaRPr lang="en-US" sz="1600" b="0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企业级处理能力</a:t>
            </a:r>
            <a:endParaRPr lang="en-US" sz="1600" b="0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097395" y="1826260"/>
            <a:ext cx="5080000" cy="431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 lnSpcReduction="2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A5B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核心测试指标</a:t>
            </a:r>
            <a:endParaRPr lang="en-US" sz="2800" b="1" i="0" u="none" strike="noStrike">
              <a:solidFill>
                <a:srgbClr val="3A5B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endParaRPr lang="en-US" sz="2400" b="1" i="0" u="none" strike="noStrike">
              <a:solidFill>
                <a:srgbClr val="3A5B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588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1. Embedding 延迟</a:t>
            </a:r>
            <a:endParaRPr lang="en-US" sz="2000" b="1" i="0" u="none" strike="noStrike">
              <a:solidFill>
                <a:srgbClr val="0588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衡量向量检索的基础性能</a:t>
            </a:r>
            <a:endParaRPr lang="en-US" sz="1600" b="0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endParaRPr lang="en-US" sz="1600" b="0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2000" b="1" i="0" u="none" strike="noStrike">
                <a:solidFill>
                  <a:srgbClr val="0588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2. 依赖体积缩减</a:t>
            </a:r>
            <a:endParaRPr lang="en-US" sz="2000" b="1" i="0" u="none" strike="noStrike">
              <a:solidFill>
                <a:srgbClr val="0588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衡量部署轻量化程度</a:t>
            </a:r>
            <a:endParaRPr lang="en-US" sz="1600" b="0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endParaRPr lang="en-US" sz="1600" b="0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2000" b="1" i="0" u="none" strike="noStrike">
                <a:solidFill>
                  <a:srgbClr val="0588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3. 平均查询响应时间</a:t>
            </a:r>
            <a:endParaRPr lang="en-US" sz="2000" b="1" i="0" u="none" strike="noStrike">
              <a:solidFill>
                <a:srgbClr val="0588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衡量端到端用户体验</a:t>
            </a:r>
            <a:endParaRPr lang="en-US" sz="1600" b="0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endParaRPr lang="en-US" sz="1600" b="0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2000" b="1" i="0" u="none" strike="noStrike">
                <a:solidFill>
                  <a:srgbClr val="0588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4. 加速比 (Acceleration Ratio)</a:t>
            </a:r>
            <a:endParaRPr lang="en-US" sz="2000" b="1" i="0" u="none" strike="noStrike">
              <a:solidFill>
                <a:srgbClr val="0588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衡量优化前后的性能提升幅度</a:t>
            </a:r>
            <a:endParaRPr lang="en-US" sz="1600" b="0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A5B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Montserrat"/>
              </a:rPr>
              <a:t>嵌入延迟对比：OpenVINO 带来的性能飞跃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1778000"/>
            <a:ext cx="6350000" cy="4572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7736205" y="2367280"/>
            <a:ext cx="3265170" cy="3068955"/>
          </a:xfrm>
          <a:prstGeom prst="roundRect">
            <a:avLst>
              <a:gd name="adj" fmla="val 2857"/>
            </a:avLst>
          </a:prstGeom>
          <a:solidFill>
            <a:srgbClr val="F0F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6400" b="1" i="0" u="none" strike="noStrike">
                <a:solidFill>
                  <a:srgbClr val="058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2.09x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2400" b="1" i="0" u="none" strike="noStrike">
                <a:solidFill>
                  <a:srgbClr val="3A5B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提速幅度</a:t>
            </a:r>
            <a:endParaRPr lang="en-US" sz="2400" b="1" i="0" u="none" strike="noStrike">
              <a:solidFill>
                <a:srgbClr val="3A5B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PyTorch: 7.92 ms</a:t>
            </a:r>
            <a:endParaRPr lang="en-US" sz="1600" b="0" i="0" u="none" strike="noStrike">
              <a:solidFill>
                <a:srgbClr val="6464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00A2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OpenVINO: 3.79 ms</a:t>
            </a:r>
            <a:endParaRPr lang="en-US" sz="1600" b="1" i="0" u="none" strike="noStrike">
              <a:solidFill>
                <a:srgbClr val="00A2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A5BC7"/>
                </a:solidFill>
                <a:latin typeface="微软雅黑" panose="020B0503020204020204" charset="-122"/>
                <a:ea typeface="微软雅黑" panose="020B0503020204020204" charset="-122"/>
                <a:cs typeface="Montserrat"/>
                <a:sym typeface="Montserrat"/>
              </a:rPr>
              <a:t>系统综合效能与并发支持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1778000"/>
            <a:ext cx="6350000" cy="4572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7620000" y="2401570"/>
            <a:ext cx="3205480" cy="1060450"/>
          </a:xfrm>
          <a:prstGeom prst="roundRect">
            <a:avLst>
              <a:gd name="adj" fmla="val 8000"/>
            </a:avLst>
          </a:pr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588F0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4.0x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最高硬件加速比</a:t>
            </a:r>
            <a:endParaRPr lang="en-US" sz="1600" b="0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620635" y="3565525"/>
            <a:ext cx="3204845" cy="932815"/>
          </a:xfrm>
          <a:prstGeom prst="roundRect">
            <a:avLst>
              <a:gd name="adj" fmla="val 8000"/>
            </a:avLst>
          </a:pr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0" rIns="0" bIns="0" rtlCol="0" anchor="ctr" anchorCtr="0">
            <a:normAutofit lnSpcReduction="1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588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&lt;3 秒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平均查询响应时间</a:t>
            </a:r>
            <a:endParaRPr lang="en-US" sz="1600" b="0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635" y="4601845"/>
            <a:ext cx="3205480" cy="1038225"/>
          </a:xfrm>
          <a:prstGeom prst="roundRect">
            <a:avLst>
              <a:gd name="adj" fmla="val 8000"/>
            </a:avLst>
          </a:pr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588F0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10+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单机并发用户支持</a:t>
            </a:r>
            <a:endParaRPr lang="en-US" sz="1600" b="0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A5BC7"/>
                </a:solidFill>
                <a:latin typeface="微软雅黑" panose="020B0503020204020204" charset="-122"/>
                <a:ea typeface="微软雅黑" panose="020B0503020204020204" charset="-122"/>
                <a:cs typeface="Montserrat"/>
                <a:sym typeface="Montserrat"/>
              </a:rPr>
              <a:t>业务功能：智能异常检测与洞察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5080000" cy="4212590"/>
          </a:xfrm>
          <a:prstGeom prst="roundRect">
            <a:avLst>
              <a:gd name="adj" fmla="val 2222"/>
            </a:avLst>
          </a:pr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381000" tIns="38100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588F0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多维异常检测</a:t>
            </a:r>
            <a:endParaRPr lang="en-US" sz="2800" b="1" i="0" u="none" strike="noStrike">
              <a:solidFill>
                <a:srgbClr val="0588F0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sz="20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——————</a:t>
            </a:r>
            <a:endParaRPr lang="en-US" sz="200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l">
              <a:lnSpc>
                <a:spcPct val="145000"/>
              </a:lnSpc>
            </a:pPr>
            <a:r>
              <a:rPr lang="en-US" sz="1800" b="1" i="0" u="none" strike="noStrike">
                <a:solidFill>
                  <a:srgbClr val="3A5B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📉   统计异常</a:t>
            </a:r>
            <a:endParaRPr lang="en-US" sz="1800" b="1" i="0" u="none" strike="noStrike">
              <a:solidFill>
                <a:srgbClr val="3A5B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45000"/>
              </a:lnSpc>
            </a:pPr>
            <a:r>
              <a:rPr lang="en-US" sz="1600" b="0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IQR / Z-Score 自动检测数值离群点</a:t>
            </a:r>
            <a:endParaRPr lang="en-US" sz="1600" b="0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45000"/>
              </a:lnSpc>
            </a:pPr>
            <a:r>
              <a:rPr lang="en-US" sz="1800" b="1" i="0" u="none" strike="noStrike">
                <a:solidFill>
                  <a:srgbClr val="3A5B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⚠   业务异常</a:t>
            </a:r>
            <a:endParaRPr lang="en-US" sz="1800" b="1" i="0" u="none" strike="noStrike">
              <a:solidFill>
                <a:srgbClr val="3A5B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45000"/>
              </a:lnSpc>
            </a:pPr>
            <a:r>
              <a:rPr lang="en-US" sz="1600" b="0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识别负利润、异常利润率等经营风险</a:t>
            </a:r>
            <a:endParaRPr lang="en-US" sz="1600" b="0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45000"/>
              </a:lnSpc>
            </a:pPr>
            <a:r>
              <a:rPr lang="en-US" sz="1800" b="1" i="0" u="none" strike="noStrike">
                <a:solidFill>
                  <a:srgbClr val="3A5B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 ⏳  趋势异常</a:t>
            </a:r>
            <a:endParaRPr lang="en-US" sz="1800" b="1" i="0" u="none" strike="noStrike">
              <a:solidFill>
                <a:srgbClr val="3A5B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45000"/>
              </a:lnSpc>
            </a:pPr>
            <a:r>
              <a:rPr lang="en-US" sz="1600" b="0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基于时间序列分析，发现突变趋势</a:t>
            </a:r>
            <a:endParaRPr lang="en-US" sz="1600" b="0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6350000" y="1778000"/>
            <a:ext cx="5080000" cy="4212590"/>
          </a:xfrm>
          <a:prstGeom prst="roundRect">
            <a:avLst>
              <a:gd name="adj" fmla="val 2222"/>
            </a:avLst>
          </a:pr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381000" tIns="38100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A2C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可视化与报告</a:t>
            </a:r>
            <a:endParaRPr lang="en-US" sz="2800" b="1" i="0" u="none" strike="noStrike">
              <a:solidFill>
                <a:srgbClr val="00A2C7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sz="20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——————</a:t>
            </a:r>
            <a:endParaRPr lang="en-US" sz="280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l">
              <a:lnSpc>
                <a:spcPct val="145000"/>
              </a:lnSpc>
            </a:pPr>
            <a:r>
              <a:rPr lang="en-US" sz="1800" b="1" i="0" u="none" strike="noStrike">
                <a:solidFill>
                  <a:srgbClr val="00A2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📊  智能绘图</a:t>
            </a:r>
            <a:endParaRPr lang="en-US" sz="1800" b="1" i="0" u="none" strike="noStrike">
              <a:solidFill>
                <a:srgbClr val="00A2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45000"/>
              </a:lnSpc>
            </a:pPr>
            <a:r>
              <a:rPr lang="en-US" sz="1600" b="0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根据数据特征自动选择最佳图表类型</a:t>
            </a:r>
            <a:endParaRPr lang="en-US" sz="1600" b="0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45000"/>
              </a:lnSpc>
            </a:pPr>
            <a:r>
              <a:rPr lang="en-US" sz="1800" b="1" i="0" u="none" strike="noStrike">
                <a:solidFill>
                  <a:srgbClr val="00A2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📄  一键导出</a:t>
            </a:r>
            <a:endParaRPr lang="en-US" sz="1800" b="1" i="0" u="none" strike="noStrike">
              <a:solidFill>
                <a:srgbClr val="00A2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45000"/>
              </a:lnSpc>
            </a:pPr>
            <a:r>
              <a:rPr lang="en-US" sz="1600" b="0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支持导出 PDF / Word 结构化报告</a:t>
            </a:r>
            <a:endParaRPr lang="en-US" sz="1600" b="0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45000"/>
              </a:lnSpc>
            </a:pPr>
            <a:r>
              <a:rPr lang="en-US" sz="1600" b="0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打通“分析 -&gt; 决策 -&gt; 汇报”闭环</a:t>
            </a:r>
            <a:endParaRPr lang="en-US" sz="1600" b="0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A5B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Montserrat"/>
              </a:rPr>
              <a:t>商业价值与 ROI 分析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1778000"/>
            <a:ext cx="6350000" cy="4572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7620000" y="2286000"/>
            <a:ext cx="3810000" cy="457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588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效率与成本</a:t>
            </a:r>
            <a:endParaRPr 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📉  分析师需求减少 60%</a:t>
            </a:r>
            <a:endParaRPr lang="en-US" sz="1600" b="0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🚀  新人上手: 2周 -&gt; 2小时</a:t>
            </a:r>
            <a:endParaRPr lang="en-US" sz="1600" b="0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⚡  决策查询: 30分 -&gt; 3分 (10x)</a:t>
            </a:r>
            <a:endParaRPr lang="en-US" sz="1600" b="0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endParaRPr lang="en-US" sz="1600" b="0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2400" b="1" i="0" u="none" strike="noStrike">
                <a:solidFill>
                  <a:srgbClr val="0588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财务回报</a:t>
            </a:r>
            <a:endParaRPr lang="en-US" sz="2400" b="1" i="0" u="none" strike="noStrike">
              <a:solidFill>
                <a:srgbClr val="0588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💰  年度收益: 100-190 万元</a:t>
            </a:r>
            <a:endParaRPr lang="en-US" sz="1600" b="0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📈  ROI: 500% - 950%</a:t>
            </a:r>
            <a:endParaRPr lang="en-US" sz="1600" b="0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 ⏱ 回收期: 2-4 个月</a:t>
            </a:r>
            <a:endParaRPr lang="en-US" sz="1600" b="0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A5BC7"/>
                </a:solidFill>
                <a:latin typeface="微软雅黑" panose="020B0503020204020204" charset="-122"/>
                <a:ea typeface="微软雅黑" panose="020B0503020204020204" charset="-122"/>
                <a:cs typeface="Montserrat"/>
                <a:sym typeface="Montserrat"/>
              </a:rPr>
              <a:t>总结与展望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1651000" y="1524000"/>
            <a:ext cx="889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Open Sans" panose="020B0606030504020204"/>
              </a:rPr>
              <a:t>成功验证了在纯 CPU/集显环境下构建高性能、低成本、全本地化 BI 的可行性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2540000"/>
            <a:ext cx="3302000" cy="2286000"/>
          </a:xfrm>
          <a:prstGeom prst="roundRect">
            <a:avLst>
              <a:gd name="adj" fmla="val 4444"/>
            </a:avLst>
          </a:prstGeom>
          <a:solidFill>
            <a:srgbClr val="F0F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0" rIns="25400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🧠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2400" b="1" i="0" u="none" strike="noStrike">
                <a:solidFill>
                  <a:srgbClr val="3A5B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DeepSeek R1</a:t>
            </a:r>
            <a:endParaRPr lang="en-US" sz="2400" b="1" i="0" u="none" strike="noStrike">
              <a:solidFill>
                <a:srgbClr val="3A5B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强大的逻辑推理能力</a:t>
            </a:r>
            <a:endParaRPr lang="en-US" sz="1400" b="0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4445000" y="2540000"/>
            <a:ext cx="3302000" cy="2286000"/>
          </a:xfrm>
          <a:prstGeom prst="roundRect">
            <a:avLst>
              <a:gd name="adj" fmla="val 4444"/>
            </a:avLst>
          </a:prstGeom>
          <a:solidFill>
            <a:srgbClr val="F0F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0" rIns="25400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⚡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2400" b="1" i="0" u="none" strike="noStrike">
                <a:solidFill>
                  <a:srgbClr val="00A2C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OpenVINO™</a:t>
            </a:r>
            <a:endParaRPr lang="en-US" sz="2400" b="1" i="0" u="none" strike="noStrike">
              <a:solidFill>
                <a:srgbClr val="00A2C7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极致的边缘推理加速</a:t>
            </a:r>
            <a:endParaRPr lang="en-US" sz="1400" b="0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8128000" y="2540000"/>
            <a:ext cx="3302000" cy="2286000"/>
          </a:xfrm>
          <a:prstGeom prst="roundRect">
            <a:avLst>
              <a:gd name="adj" fmla="val 4444"/>
            </a:avLst>
          </a:prstGeom>
          <a:solidFill>
            <a:srgbClr val="F0F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0" rIns="25400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🔒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2400" b="1" i="0" u="none" strike="noStrike">
                <a:solidFill>
                  <a:srgbClr val="0588F0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Local Privacy</a:t>
            </a:r>
            <a:endParaRPr lang="en-US" sz="2400" b="1" i="0" u="none" strike="noStrike">
              <a:solidFill>
                <a:srgbClr val="0588F0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全本地化数据安全</a:t>
            </a:r>
            <a:endParaRPr lang="en-US" sz="1400" b="0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651000" y="5334000"/>
            <a:ext cx="8890000" cy="1016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ap="flat" cmpd="sng">
            <a:solidFill>
              <a:srgbClr val="646464">
                <a:alpha val="100000"/>
              </a:srgbClr>
            </a:solidFill>
            <a:prstDash val="dash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未来展望</a:t>
            </a:r>
            <a:endParaRPr lang="en-US" sz="2400" b="1" i="0" u="none" strike="noStrike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数据库自动初始化</a:t>
            </a:r>
            <a:r>
              <a:rPr lang="en-US" sz="1800" b="1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 · </a:t>
            </a:r>
            <a:r>
              <a:rPr lang="en-US" altLang="zh-CN" sz="1800" b="1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RAG</a:t>
            </a:r>
            <a:r>
              <a:rPr lang="zh-CN" altLang="en-US" sz="1800" b="1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系统优化</a:t>
            </a:r>
            <a:r>
              <a:rPr lang="en-US" sz="1800" b="1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 · 拓展行业知识图谱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e95ebfb1fed338ce1263a2bb67b2ec40da5ad6d8.jpg"/>
          <p:cNvPicPr>
            <a:picLocks noChangeAspect="1"/>
          </p:cNvPicPr>
          <p:nvPr/>
        </p:nvPicPr>
        <p:blipFill>
          <a:blip r:embed="rId1">
            <a:alphaModFix amt="40000"/>
          </a:blip>
          <a:srcRect t="7786" b="7786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21806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071C5">
                  <a:alpha val="65000"/>
                  <a:lumMod val="96000"/>
                </a:srgbClr>
              </a:gs>
              <a:gs pos="50000">
                <a:srgbClr val="1A1D21">
                  <a:alpha val="80000"/>
                </a:srgbClr>
              </a:gs>
              <a:gs pos="100000">
                <a:srgbClr val="1A1D21">
                  <a:alpha val="95000"/>
                </a:srgbClr>
              </a:gs>
            </a:gsLst>
            <a:lin ang="3000000" scaled="1"/>
          </a:gradFill>
        </p:spPr>
        <p:txBody>
          <a:bodyPr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1295400" y="476250"/>
            <a:ext cx="10629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kern="0" spc="9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Sitka Text" charset="0"/>
              </a:rPr>
              <a:t>Intel® DeepInsight</a:t>
            </a:r>
            <a:endParaRPr lang="en-US" sz="2000" b="1" kern="0" spc="9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Sitka Text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295400" y="781050"/>
            <a:ext cx="106013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6F1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MiSans" panose="00000500000000000000" pitchFamily="34" charset="-120"/>
              </a:rPr>
              <a:t>智能零售决策系统</a:t>
            </a:r>
            <a:endParaRPr lang="en-US" sz="1600" b="1" dirty="0">
              <a:solidFill>
                <a:srgbClr val="E0E6F1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MiSans" panose="00000500000000000000" pitchFamily="34" charset="-120"/>
            </a:endParaRPr>
          </a:p>
        </p:txBody>
      </p:sp>
      <p:sp>
        <p:nvSpPr>
          <p:cNvPr id="8" name="Text 5"/>
          <p:cNvSpPr/>
          <p:nvPr/>
        </p:nvSpPr>
        <p:spPr>
          <a:xfrm>
            <a:off x="385823" y="2444320"/>
            <a:ext cx="11715750" cy="7143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3600" b="1" dirty="0">
                <a:solidFill>
                  <a:srgbClr val="E0E6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谢谢！</a:t>
            </a:r>
            <a:endParaRPr lang="zh-CN" altLang="en-US" sz="3600" b="1" dirty="0">
              <a:solidFill>
                <a:srgbClr val="E0E6F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hape 7"/>
          <p:cNvSpPr/>
          <p:nvPr>
            <p:custDataLst>
              <p:tags r:id="rId2"/>
            </p:custDataLst>
          </p:nvPr>
        </p:nvSpPr>
        <p:spPr>
          <a:xfrm>
            <a:off x="4269605" y="3773953"/>
            <a:ext cx="217805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42863" y="0"/>
                </a:moveTo>
                <a:cubicBezTo>
                  <a:pt x="36935" y="0"/>
                  <a:pt x="32147" y="4789"/>
                  <a:pt x="32147" y="10716"/>
                </a:cubicBezTo>
                <a:lnTo>
                  <a:pt x="32147" y="21431"/>
                </a:lnTo>
                <a:lnTo>
                  <a:pt x="21431" y="21431"/>
                </a:lnTo>
                <a:cubicBezTo>
                  <a:pt x="9611" y="21431"/>
                  <a:pt x="0" y="31042"/>
                  <a:pt x="0" y="42863"/>
                </a:cubicBezTo>
                <a:lnTo>
                  <a:pt x="0" y="58936"/>
                </a:lnTo>
                <a:lnTo>
                  <a:pt x="150019" y="58936"/>
                </a:lnTo>
                <a:lnTo>
                  <a:pt x="150019" y="42863"/>
                </a:lnTo>
                <a:cubicBezTo>
                  <a:pt x="150019" y="31042"/>
                  <a:pt x="140408" y="21431"/>
                  <a:pt x="128588" y="21431"/>
                </a:cubicBezTo>
                <a:lnTo>
                  <a:pt x="117872" y="21431"/>
                </a:lnTo>
                <a:lnTo>
                  <a:pt x="117872" y="10716"/>
                </a:lnTo>
                <a:cubicBezTo>
                  <a:pt x="117872" y="4789"/>
                  <a:pt x="113083" y="0"/>
                  <a:pt x="107156" y="0"/>
                </a:cubicBezTo>
                <a:cubicBezTo>
                  <a:pt x="101229" y="0"/>
                  <a:pt x="96441" y="4789"/>
                  <a:pt x="96441" y="10716"/>
                </a:cubicBezTo>
                <a:lnTo>
                  <a:pt x="96441" y="21431"/>
                </a:lnTo>
                <a:lnTo>
                  <a:pt x="53578" y="21431"/>
                </a:lnTo>
                <a:lnTo>
                  <a:pt x="53578" y="10716"/>
                </a:lnTo>
                <a:cubicBezTo>
                  <a:pt x="53578" y="4789"/>
                  <a:pt x="48790" y="0"/>
                  <a:pt x="42863" y="0"/>
                </a:cubicBezTo>
                <a:close/>
                <a:moveTo>
                  <a:pt x="0" y="75009"/>
                </a:moveTo>
                <a:lnTo>
                  <a:pt x="0" y="139303"/>
                </a:lnTo>
                <a:cubicBezTo>
                  <a:pt x="0" y="151124"/>
                  <a:pt x="9611" y="160734"/>
                  <a:pt x="21431" y="160734"/>
                </a:cubicBezTo>
                <a:lnTo>
                  <a:pt x="128588" y="160734"/>
                </a:lnTo>
                <a:cubicBezTo>
                  <a:pt x="140408" y="160734"/>
                  <a:pt x="150019" y="151124"/>
                  <a:pt x="150019" y="139303"/>
                </a:cubicBezTo>
                <a:lnTo>
                  <a:pt x="150019" y="75009"/>
                </a:lnTo>
                <a:lnTo>
                  <a:pt x="0" y="75009"/>
                </a:lnTo>
                <a:close/>
              </a:path>
            </a:pathLst>
          </a:custGeom>
          <a:solidFill>
            <a:srgbClr val="0071C5"/>
          </a:solidFill>
        </p:spPr>
      </p:sp>
      <p:sp>
        <p:nvSpPr>
          <p:cNvPr id="11" name="Text 8"/>
          <p:cNvSpPr/>
          <p:nvPr>
            <p:custDataLst>
              <p:tags r:id="rId3"/>
            </p:custDataLst>
          </p:nvPr>
        </p:nvSpPr>
        <p:spPr>
          <a:xfrm>
            <a:off x="4538845" y="3700928"/>
            <a:ext cx="1551940" cy="2730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6F1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2026年1</a:t>
            </a:r>
            <a:r>
              <a:rPr lang="en-US" sz="1600" b="1" dirty="0">
                <a:solidFill>
                  <a:srgbClr val="E0E6F1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月11</a:t>
            </a:r>
            <a:r>
              <a:rPr lang="zh-CN" altLang="en-US" sz="1600" b="1" dirty="0">
                <a:solidFill>
                  <a:srgbClr val="E0E6F1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</a:t>
            </a:r>
            <a:endParaRPr lang="zh-CN" altLang="en-US" sz="1600" b="1" dirty="0">
              <a:solidFill>
                <a:srgbClr val="E0E6F1">
                  <a:alpha val="9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hape 9"/>
          <p:cNvSpPr/>
          <p:nvPr>
            <p:custDataLst>
              <p:tags r:id="rId4"/>
            </p:custDataLst>
          </p:nvPr>
        </p:nvSpPr>
        <p:spPr>
          <a:xfrm>
            <a:off x="1713756" y="4176712"/>
            <a:ext cx="9525" cy="228600"/>
          </a:xfrm>
          <a:custGeom>
            <a:avLst/>
            <a:gdLst/>
            <a:ahLst/>
            <a:cxnLst/>
            <a:rect l="l" t="t" r="r" b="b"/>
            <a:pathLst>
              <a:path w="9525" h="228600">
                <a:moveTo>
                  <a:pt x="0" y="0"/>
                </a:moveTo>
                <a:lnTo>
                  <a:pt x="9525" y="0"/>
                </a:lnTo>
                <a:lnTo>
                  <a:pt x="9525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E0E6F1">
              <a:alpha val="30196"/>
            </a:srgbClr>
          </a:solidFill>
        </p:spPr>
        <p:txBody>
          <a:bodyPr/>
          <a:p>
            <a:endParaRPr lang="zh-CN" altLang="en-US"/>
          </a:p>
        </p:txBody>
      </p:sp>
      <p:sp>
        <p:nvSpPr>
          <p:cNvPr id="13" name="Shape 10"/>
          <p:cNvSpPr/>
          <p:nvPr>
            <p:custDataLst>
              <p:tags r:id="rId5"/>
            </p:custDataLst>
          </p:nvPr>
        </p:nvSpPr>
        <p:spPr>
          <a:xfrm>
            <a:off x="6201275" y="3761253"/>
            <a:ext cx="208280" cy="19939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58936" y="8037"/>
                </a:moveTo>
                <a:cubicBezTo>
                  <a:pt x="58936" y="3583"/>
                  <a:pt x="55353" y="0"/>
                  <a:pt x="50899" y="0"/>
                </a:cubicBezTo>
                <a:cubicBezTo>
                  <a:pt x="46446" y="0"/>
                  <a:pt x="42863" y="3583"/>
                  <a:pt x="42863" y="8037"/>
                </a:cubicBezTo>
                <a:lnTo>
                  <a:pt x="42863" y="21431"/>
                </a:lnTo>
                <a:cubicBezTo>
                  <a:pt x="31042" y="21431"/>
                  <a:pt x="21431" y="31042"/>
                  <a:pt x="21431" y="42863"/>
                </a:cubicBezTo>
                <a:lnTo>
                  <a:pt x="8037" y="42863"/>
                </a:lnTo>
                <a:cubicBezTo>
                  <a:pt x="3583" y="42863"/>
                  <a:pt x="0" y="46446"/>
                  <a:pt x="0" y="50899"/>
                </a:cubicBezTo>
                <a:cubicBezTo>
                  <a:pt x="0" y="55353"/>
                  <a:pt x="3583" y="58936"/>
                  <a:pt x="8037" y="58936"/>
                </a:cubicBezTo>
                <a:lnTo>
                  <a:pt x="21431" y="58936"/>
                </a:lnTo>
                <a:lnTo>
                  <a:pt x="21431" y="77688"/>
                </a:lnTo>
                <a:lnTo>
                  <a:pt x="8037" y="77688"/>
                </a:lnTo>
                <a:cubicBezTo>
                  <a:pt x="3583" y="77688"/>
                  <a:pt x="0" y="81271"/>
                  <a:pt x="0" y="85725"/>
                </a:cubicBezTo>
                <a:cubicBezTo>
                  <a:pt x="0" y="90179"/>
                  <a:pt x="3583" y="93762"/>
                  <a:pt x="8037" y="93762"/>
                </a:cubicBezTo>
                <a:lnTo>
                  <a:pt x="21431" y="93762"/>
                </a:lnTo>
                <a:lnTo>
                  <a:pt x="21431" y="112514"/>
                </a:lnTo>
                <a:lnTo>
                  <a:pt x="8037" y="112514"/>
                </a:lnTo>
                <a:cubicBezTo>
                  <a:pt x="3583" y="112514"/>
                  <a:pt x="0" y="116097"/>
                  <a:pt x="0" y="120551"/>
                </a:cubicBezTo>
                <a:cubicBezTo>
                  <a:pt x="0" y="125004"/>
                  <a:pt x="3583" y="128588"/>
                  <a:pt x="8037" y="128588"/>
                </a:cubicBezTo>
                <a:lnTo>
                  <a:pt x="21431" y="128588"/>
                </a:lnTo>
                <a:cubicBezTo>
                  <a:pt x="21431" y="140408"/>
                  <a:pt x="31042" y="150019"/>
                  <a:pt x="42863" y="150019"/>
                </a:cubicBezTo>
                <a:lnTo>
                  <a:pt x="42863" y="163413"/>
                </a:lnTo>
                <a:cubicBezTo>
                  <a:pt x="42863" y="167867"/>
                  <a:pt x="46446" y="171450"/>
                  <a:pt x="50899" y="171450"/>
                </a:cubicBezTo>
                <a:cubicBezTo>
                  <a:pt x="55353" y="171450"/>
                  <a:pt x="58936" y="167867"/>
                  <a:pt x="58936" y="163413"/>
                </a:cubicBezTo>
                <a:lnTo>
                  <a:pt x="58936" y="150019"/>
                </a:lnTo>
                <a:lnTo>
                  <a:pt x="77688" y="150019"/>
                </a:lnTo>
                <a:lnTo>
                  <a:pt x="77688" y="163413"/>
                </a:lnTo>
                <a:cubicBezTo>
                  <a:pt x="77688" y="167867"/>
                  <a:pt x="81271" y="171450"/>
                  <a:pt x="85725" y="171450"/>
                </a:cubicBezTo>
                <a:cubicBezTo>
                  <a:pt x="90179" y="171450"/>
                  <a:pt x="93762" y="167867"/>
                  <a:pt x="93762" y="163413"/>
                </a:cubicBezTo>
                <a:lnTo>
                  <a:pt x="93762" y="150019"/>
                </a:lnTo>
                <a:lnTo>
                  <a:pt x="112514" y="150019"/>
                </a:lnTo>
                <a:lnTo>
                  <a:pt x="112514" y="163413"/>
                </a:lnTo>
                <a:cubicBezTo>
                  <a:pt x="112514" y="167867"/>
                  <a:pt x="116097" y="171450"/>
                  <a:pt x="120551" y="171450"/>
                </a:cubicBezTo>
                <a:cubicBezTo>
                  <a:pt x="125004" y="171450"/>
                  <a:pt x="128588" y="167867"/>
                  <a:pt x="128588" y="163413"/>
                </a:cubicBezTo>
                <a:lnTo>
                  <a:pt x="128588" y="150019"/>
                </a:lnTo>
                <a:cubicBezTo>
                  <a:pt x="140408" y="150019"/>
                  <a:pt x="150019" y="140408"/>
                  <a:pt x="150019" y="128588"/>
                </a:cubicBezTo>
                <a:lnTo>
                  <a:pt x="163413" y="128588"/>
                </a:lnTo>
                <a:cubicBezTo>
                  <a:pt x="167867" y="128588"/>
                  <a:pt x="171450" y="125004"/>
                  <a:pt x="171450" y="120551"/>
                </a:cubicBezTo>
                <a:cubicBezTo>
                  <a:pt x="171450" y="116097"/>
                  <a:pt x="167867" y="112514"/>
                  <a:pt x="163413" y="112514"/>
                </a:cubicBezTo>
                <a:lnTo>
                  <a:pt x="150019" y="112514"/>
                </a:lnTo>
                <a:lnTo>
                  <a:pt x="150019" y="93762"/>
                </a:lnTo>
                <a:lnTo>
                  <a:pt x="163413" y="93762"/>
                </a:lnTo>
                <a:cubicBezTo>
                  <a:pt x="167867" y="93762"/>
                  <a:pt x="171450" y="90179"/>
                  <a:pt x="171450" y="85725"/>
                </a:cubicBezTo>
                <a:cubicBezTo>
                  <a:pt x="171450" y="81271"/>
                  <a:pt x="167867" y="77688"/>
                  <a:pt x="163413" y="77688"/>
                </a:cubicBezTo>
                <a:lnTo>
                  <a:pt x="150019" y="77688"/>
                </a:lnTo>
                <a:lnTo>
                  <a:pt x="150019" y="58936"/>
                </a:lnTo>
                <a:lnTo>
                  <a:pt x="163413" y="58936"/>
                </a:lnTo>
                <a:cubicBezTo>
                  <a:pt x="167867" y="58936"/>
                  <a:pt x="171450" y="55353"/>
                  <a:pt x="171450" y="50899"/>
                </a:cubicBezTo>
                <a:cubicBezTo>
                  <a:pt x="171450" y="46446"/>
                  <a:pt x="167867" y="42863"/>
                  <a:pt x="163413" y="42863"/>
                </a:cubicBezTo>
                <a:lnTo>
                  <a:pt x="150019" y="42863"/>
                </a:lnTo>
                <a:cubicBezTo>
                  <a:pt x="150019" y="31042"/>
                  <a:pt x="140408" y="21431"/>
                  <a:pt x="128588" y="21431"/>
                </a:cubicBezTo>
                <a:lnTo>
                  <a:pt x="128588" y="8037"/>
                </a:lnTo>
                <a:cubicBezTo>
                  <a:pt x="128588" y="3583"/>
                  <a:pt x="125004" y="0"/>
                  <a:pt x="120551" y="0"/>
                </a:cubicBezTo>
                <a:cubicBezTo>
                  <a:pt x="116097" y="0"/>
                  <a:pt x="112514" y="3583"/>
                  <a:pt x="112514" y="8037"/>
                </a:cubicBezTo>
                <a:lnTo>
                  <a:pt x="112514" y="21431"/>
                </a:lnTo>
                <a:lnTo>
                  <a:pt x="93762" y="21431"/>
                </a:lnTo>
                <a:lnTo>
                  <a:pt x="93762" y="8037"/>
                </a:lnTo>
                <a:cubicBezTo>
                  <a:pt x="93762" y="3583"/>
                  <a:pt x="90179" y="0"/>
                  <a:pt x="85725" y="0"/>
                </a:cubicBezTo>
                <a:cubicBezTo>
                  <a:pt x="81271" y="0"/>
                  <a:pt x="77688" y="3583"/>
                  <a:pt x="77688" y="8037"/>
                </a:cubicBezTo>
                <a:lnTo>
                  <a:pt x="77688" y="21431"/>
                </a:lnTo>
                <a:lnTo>
                  <a:pt x="58936" y="21431"/>
                </a:lnTo>
                <a:lnTo>
                  <a:pt x="58936" y="8037"/>
                </a:lnTo>
                <a:close/>
                <a:moveTo>
                  <a:pt x="53578" y="42863"/>
                </a:moveTo>
                <a:lnTo>
                  <a:pt x="117872" y="42863"/>
                </a:lnTo>
                <a:cubicBezTo>
                  <a:pt x="123799" y="42863"/>
                  <a:pt x="128588" y="47651"/>
                  <a:pt x="128588" y="53578"/>
                </a:cubicBezTo>
                <a:lnTo>
                  <a:pt x="128588" y="117872"/>
                </a:lnTo>
                <a:cubicBezTo>
                  <a:pt x="128588" y="123799"/>
                  <a:pt x="123799" y="128588"/>
                  <a:pt x="117872" y="128588"/>
                </a:cubicBezTo>
                <a:lnTo>
                  <a:pt x="53578" y="128588"/>
                </a:lnTo>
                <a:cubicBezTo>
                  <a:pt x="47651" y="128588"/>
                  <a:pt x="42863" y="123799"/>
                  <a:pt x="42863" y="117872"/>
                </a:cubicBezTo>
                <a:lnTo>
                  <a:pt x="42863" y="53578"/>
                </a:lnTo>
                <a:cubicBezTo>
                  <a:pt x="42863" y="47651"/>
                  <a:pt x="47651" y="42863"/>
                  <a:pt x="53578" y="42863"/>
                </a:cubicBezTo>
                <a:close/>
                <a:moveTo>
                  <a:pt x="58936" y="58936"/>
                </a:moveTo>
                <a:lnTo>
                  <a:pt x="58936" y="112514"/>
                </a:lnTo>
                <a:lnTo>
                  <a:pt x="112514" y="112514"/>
                </a:lnTo>
                <a:lnTo>
                  <a:pt x="112514" y="58936"/>
                </a:lnTo>
                <a:lnTo>
                  <a:pt x="58936" y="58936"/>
                </a:lnTo>
                <a:close/>
              </a:path>
            </a:pathLst>
          </a:custGeom>
          <a:solidFill>
            <a:srgbClr val="0071C5"/>
          </a:solidFill>
        </p:spPr>
      </p:sp>
      <p:sp>
        <p:nvSpPr>
          <p:cNvPr id="14" name="Text 11"/>
          <p:cNvSpPr/>
          <p:nvPr>
            <p:custDataLst>
              <p:tags r:id="rId6"/>
            </p:custDataLst>
          </p:nvPr>
        </p:nvSpPr>
        <p:spPr>
          <a:xfrm>
            <a:off x="6465008" y="3693626"/>
            <a:ext cx="14573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6F1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随便试试</a:t>
            </a:r>
            <a:r>
              <a:rPr lang="zh-CN" altLang="en-US" sz="1600" b="1" dirty="0">
                <a:solidFill>
                  <a:srgbClr val="E0E6F1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队</a:t>
            </a:r>
            <a:endParaRPr lang="zh-CN" altLang="en-US" sz="1600" b="1" dirty="0">
              <a:solidFill>
                <a:srgbClr val="E0E6F1">
                  <a:alpha val="9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3" name="图片 22" descr="post_object_image_16140005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5823" y="371417"/>
            <a:ext cx="828385" cy="828385"/>
          </a:xfrm>
          <a:prstGeom prst="roundRect">
            <a:avLst>
              <a:gd name="adj" fmla="val 12000"/>
            </a:avLst>
          </a:prstGeom>
          <a:noFill/>
          <a:ln w="19050" cmpd="sng">
            <a:noFill/>
            <a:prstDash val="solid"/>
            <a:miter lim="800000"/>
            <a:headEnd/>
            <a:tailEnd/>
          </a:ln>
          <a:effectLst>
            <a:softEdge rad="0"/>
          </a:effectLst>
        </p:spPr>
      </p:pic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KSO_WM_DIAGRAM_VIRTUALLY_FRAME" val="{&quot;height&quot;:218.78834645669295,&quot;left&quot;:21.4,&quot;top&quot;:290.83669291338583,&quot;width&quot;:602.405748031496}"/>
</p:tagLst>
</file>

<file path=ppt/tags/tag2.xml><?xml version="1.0" encoding="utf-8"?>
<p:tagLst xmlns:p="http://schemas.openxmlformats.org/presentationml/2006/main">
  <p:tag name="KSO_WM_DIAGRAM_VIRTUALLY_FRAME" val="{&quot;height&quot;:218.78834645669295,&quot;left&quot;:21.4,&quot;top&quot;:290.83669291338583,&quot;width&quot;:602.405748031496}"/>
</p:tagLst>
</file>

<file path=ppt/tags/tag3.xml><?xml version="1.0" encoding="utf-8"?>
<p:tagLst xmlns:p="http://schemas.openxmlformats.org/presentationml/2006/main">
  <p:tag name="KSO_WM_DIAGRAM_VIRTUALLY_FRAME" val="{&quot;height&quot;:218.78834645669295,&quot;left&quot;:21.4,&quot;top&quot;:290.83669291338583,&quot;width&quot;:602.405748031496}"/>
</p:tagLst>
</file>

<file path=ppt/tags/tag4.xml><?xml version="1.0" encoding="utf-8"?>
<p:tagLst xmlns:p="http://schemas.openxmlformats.org/presentationml/2006/main">
  <p:tag name="KSO_WM_DIAGRAM_VIRTUALLY_FRAME" val="{&quot;height&quot;:218.78834645669295,&quot;left&quot;:21.4,&quot;top&quot;:290.83669291338583,&quot;width&quot;:602.405748031496}"/>
</p:tagLst>
</file>

<file path=ppt/tags/tag5.xml><?xml version="1.0" encoding="utf-8"?>
<p:tagLst xmlns:p="http://schemas.openxmlformats.org/presentationml/2006/main">
  <p:tag name="KSO_WM_DIAGRAM_VIRTUALLY_FRAME" val="{&quot;height&quot;:218.78834645669295,&quot;left&quot;:21.4,&quot;top&quot;:290.83669291338583,&quot;width&quot;:602.405748031496}"/>
</p:tagLst>
</file>

<file path=ppt/tags/tag6.xml><?xml version="1.0" encoding="utf-8"?>
<p:tagLst xmlns:p="http://schemas.openxmlformats.org/presentationml/2006/main">
  <p:tag name="KSO_WM_DIAGRAM_VIRTUALLY_FRAME" val="{&quot;height&quot;:218.78834645669295,&quot;left&quot;:21.4,&quot;top&quot;:290.83669291338583,&quot;width&quot;:602.405748031496}"/>
</p:tagLst>
</file>

<file path=ppt/tags/tag7.xml><?xml version="1.0" encoding="utf-8"?>
<p:tagLst xmlns:p="http://schemas.openxmlformats.org/presentationml/2006/main">
  <p:tag name="KSO_WM_DIAGRAM_VIRTUALLY_FRAME" val="{&quot;height&quot;:218.78834645669295,&quot;left&quot;:21.4,&quot;top&quot;:290.83669291338583,&quot;width&quot;:602.405748031496}"/>
</p:tagLst>
</file>

<file path=ppt/tags/tag8.xml><?xml version="1.0" encoding="utf-8"?>
<p:tagLst xmlns:p="http://schemas.openxmlformats.org/presentationml/2006/main">
  <p:tag name="KSO_WM_DIAGRAM_VIRTUALLY_FRAME" val="{&quot;height&quot;:218.78834645669295,&quot;left&quot;:21.4,&quot;top&quot;:290.83669291338583,&quot;width&quot;:602.405748031496}"/>
</p:tagLst>
</file>

<file path=ppt/tags/tag9.xml><?xml version="1.0" encoding="utf-8"?>
<p:tagLst xmlns:p="http://schemas.openxmlformats.org/presentationml/2006/main">
  <p:tag name="KSO_WM_DIAGRAM_VIRTUALLY_FRAME" val="{&quot;height&quot;:218.78834645669295,&quot;left&quot;:21.4,&quot;top&quot;:290.83669291338583,&quot;width&quot;:602.405748031496}"/>
</p:tagLst>
</file>

<file path=ppt/tags/tag10.xml><?xml version="1.0" encoding="utf-8"?>
<p:tagLst xmlns:p="http://schemas.openxmlformats.org/presentationml/2006/main">
  <p:tag name="KSO_WM_DIAGRAM_VIRTUALLY_FRAME" val="{&quot;height&quot;:218.78834645669295,&quot;left&quot;:21.4,&quot;top&quot;:290.83669291338583,&quot;width&quot;:602.405748031496}"/>
</p:tagLst>
</file>

<file path=ppt/tags/tag11.xml><?xml version="1.0" encoding="utf-8"?>
<p:tagLst xmlns:p="http://schemas.openxmlformats.org/presentationml/2006/main">
  <p:tag name="KSO_WM_DIAGRAM_VIRTUALLY_FRAME" val="{&quot;height&quot;:218.78834645669295,&quot;left&quot;:21.4,&quot;top&quot;:290.83669291338583,&quot;width&quot;:602.405748031496}"/>
</p:tagLst>
</file>

<file path=ppt/tags/tag12.xml><?xml version="1.0" encoding="utf-8"?>
<p:tagLst xmlns:p="http://schemas.openxmlformats.org/presentationml/2006/main">
  <p:tag name="KSO_WM_DIAGRAM_VIRTUALLY_FRAME" val="{&quot;height&quot;:218.78834645669295,&quot;left&quot;:21.4,&quot;top&quot;:290.83669291338583,&quot;width&quot;:602.405748031496}"/>
</p:tagLst>
</file>

<file path=ppt/tags/tag13.xml><?xml version="1.0" encoding="utf-8"?>
<p:tagLst xmlns:p="http://schemas.openxmlformats.org/presentationml/2006/main">
  <p:tag name="KSO_WM_DIAGRAM_VIRTUALLY_FRAME" val="{&quot;height&quot;:218.78834645669295,&quot;left&quot;:21.4,&quot;top&quot;:290.83669291338583,&quot;width&quot;:602.405748031496}"/>
</p:tagLst>
</file>

<file path=ppt/tags/tag14.xml><?xml version="1.0" encoding="utf-8"?>
<p:tagLst xmlns:p="http://schemas.openxmlformats.org/presentationml/2006/main">
  <p:tag name="KSO_WM_DIAGRAM_VIRTUALLY_FRAME" val="{&quot;height&quot;:218.78834645669295,&quot;left&quot;:21.4,&quot;top&quot;:290.83669291338583,&quot;width&quot;:602.405748031496}"/>
</p:tagLst>
</file>

<file path=ppt/tags/tag15.xml><?xml version="1.0" encoding="utf-8"?>
<p:tagLst xmlns:p="http://schemas.openxmlformats.org/presentationml/2006/main">
  <p:tag name="KSO_WM_DIAGRAM_VIRTUALLY_FRAME" val="{&quot;height&quot;:218.78834645669295,&quot;left&quot;:21.4,&quot;top&quot;:290.83669291338583,&quot;width&quot;:602.405748031496}"/>
</p:tagLst>
</file>

<file path=ppt/tags/tag16.xml><?xml version="1.0" encoding="utf-8"?>
<p:tagLst xmlns:p="http://schemas.openxmlformats.org/presentationml/2006/main">
  <p:tag name="KSO_WM_DIAGRAM_VIRTUALLY_FRAME" val="{&quot;height&quot;:218.78834645669295,&quot;left&quot;:21.4,&quot;top&quot;:290.83669291338583,&quot;width&quot;:602.405748031496}"/>
</p:tagLst>
</file>

<file path=ppt/tags/tag17.xml><?xml version="1.0" encoding="utf-8"?>
<p:tagLst xmlns:p="http://schemas.openxmlformats.org/presentationml/2006/main">
  <p:tag name="KSO_WM_DIAGRAM_VIRTUALLY_FRAME" val="{&quot;height&quot;:218.78834645669295,&quot;left&quot;:21.4,&quot;top&quot;:290.83669291338583,&quot;width&quot;:602.405748031496}"/>
</p:tagLst>
</file>

<file path=ppt/tags/tag18.xml><?xml version="1.0" encoding="utf-8"?>
<p:tagLst xmlns:p="http://schemas.openxmlformats.org/presentationml/2006/main">
  <p:tag name="KSO_WM_DIAGRAM_VIRTUALLY_FRAME" val="{&quot;height&quot;:218.78834645669295,&quot;left&quot;:21.4,&quot;top&quot;:290.83669291338583,&quot;width&quot;:602.405748031496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2615</Words>
  <Application>WPS 演示</Application>
  <PresentationFormat/>
  <Paragraphs>267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20</vt:i4>
      </vt:variant>
    </vt:vector>
  </HeadingPairs>
  <TitlesOfParts>
    <vt:vector size="38" baseType="lpstr">
      <vt:lpstr>Arial</vt:lpstr>
      <vt:lpstr>宋体</vt:lpstr>
      <vt:lpstr>Wingdings</vt:lpstr>
      <vt:lpstr>Arial</vt:lpstr>
      <vt:lpstr>微软雅黑</vt:lpstr>
      <vt:lpstr>Sitka Text</vt:lpstr>
      <vt:lpstr>MiSans</vt:lpstr>
      <vt:lpstr>MingLiU-ExtB</vt:lpstr>
      <vt:lpstr>Montserrat</vt:lpstr>
      <vt:lpstr>Segoe Print</vt:lpstr>
      <vt:lpstr>Poppins</vt:lpstr>
      <vt:lpstr>Noto Sans SC</vt:lpstr>
      <vt:lpstr>Open Sans</vt:lpstr>
      <vt:lpstr>Arial Unicode MS</vt:lpstr>
      <vt:lpstr>Office 主题​​</vt:lpstr>
      <vt:lpstr>默认主题</vt:lpstr>
      <vt:lpstr>1_默认主题</vt:lpstr>
      <vt:lpstr>2_默认主题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唐佳云</cp:lastModifiedBy>
  <cp:revision>8</cp:revision>
  <dcterms:created xsi:type="dcterms:W3CDTF">2026-01-11T09:42:00Z</dcterms:created>
  <dcterms:modified xsi:type="dcterms:W3CDTF">2026-01-11T12:00:44Z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2052-12.1.0.21541</vt:lpwstr>
  </property>
  <property fmtid="{D5CDD505-2E9C-101B-9397-08002B2CF9AE}" pid="3" name="ICV">
    <vt:lpwstr>FABAC68143BF408BB3F8DB34EABEFD86_12</vt:lpwstr>
  </property>
</Properties>
</file>